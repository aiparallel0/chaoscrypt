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9" r:id="rId1"/>
  </p:sldMasterIdLst>
  <p:notesMasterIdLst>
    <p:notesMasterId r:id="rId1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6"/>
    <p:sldId id="263" r:id="rId5"/>
    <p:sldId id="264" r:id="rId4"/>
    <p:sldId id="265" r:id="rId3"/>
    <p:sldId id="266" r:id="rId2"/>
    <p:sldId id="267" r:id="rId18"/>
    <p:sldId id="268" r:id="rId19"/>
    <p:sldId id="269" r:id="rId20"/>
    <p:sldId id="270" r:id="rId21"/>
    <p:sldId id="271" r:id="rId22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588" autoAdjust="0"/>
    <p:restoredTop sz="94660"/>
  </p:normalViewPr>
  <p:slideViewPr>
    <p:cSldViewPr snapToGrid="0">
      <p:cViewPr varScale="1">
        <p:scale>
          <a:sx n="98" d="100"/>
          <a:sy n="98" d="100"/>
        </p:scale>
        <p:origin x="86" y="11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7" d="100"/>
          <a:sy n="57" d="100"/>
        </p:scale>
        <p:origin x="1896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1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F30E49-FAA3-4103-A19B-88A53BA86019}" type="datetimeFigureOut">
              <a:rPr lang="tr-TR" smtClean="0"/>
              <a:t>10.08.2025</a:t>
            </a:fld>
            <a:endParaRPr lang="tr-TR"/>
          </a:p>
        </p:txBody>
      </p:sp>
      <p:sp>
        <p:nvSpPr>
          <p:cNvPr id="4" name="Slayt Görüntüsü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99D66C-2377-4C1A-B265-BC914AD7E50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08817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448103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302018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79297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31730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053610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95472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5096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45025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516943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633751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230261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Relationship Id="rId14" Type="http://schemas.openxmlformats.org/officeDocument/2006/relationships/image" Target="../media/image2.png"/><Relationship Id="rId15" Type="http://schemas.openxmlformats.org/officeDocument/2006/relationships/image" Target="file:////var/folders/1s/pqdpz0ts7c57mk136n2fbt5r0000gn/T/com.microsoft.Word/WebArchiveCopyPasteTempFiles/logomain.png" TargetMode="External"/><Relationship Id="rId16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4E9C27-8E88-4EB3-A617-0E6C04A38702}" type="datetimeFigureOut">
              <a:rPr lang="en-US" smtClean="0"/>
              <a:t>8/10/2025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E5F23C-2349-4F07-85CE-C491D1B1E46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Dikdörtgen 3">
            <a:extLst>
              <a:ext uri="{FF2B5EF4-FFF2-40B4-BE49-F238E27FC236}">
                <a16:creationId xmlns:a16="http://schemas.microsoft.com/office/drawing/2014/main" id="{D239104A-9FE5-DF47-8BF3-027C1B59D68A}"/>
              </a:ext>
            </a:extLst>
          </p:cNvPr>
          <p:cNvSpPr/>
          <p:nvPr userDrawn="1"/>
        </p:nvSpPr>
        <p:spPr>
          <a:xfrm>
            <a:off x="838200" y="6118029"/>
            <a:ext cx="10515600" cy="73866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VI. INTERNATIONAL CONFERENCE ON COMPUTER SCIENCE AND ENGINEERING</a:t>
            </a:r>
            <a:r>
              <a:rPr lang="tr-TR" altLang="tr-TR" sz="1400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(UBMK 2021)</a:t>
            </a:r>
          </a:p>
          <a:p>
            <a:pPr algn="ctr"/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ctr"/>
            <a:r>
              <a:rPr lang="tr-TR" sz="1400" b="1" dirty="0">
                <a:solidFill>
                  <a:srgbClr val="0070C0"/>
                </a:solidFill>
                <a:latin typeface="Calibri" panose="020F0502020204030204" pitchFamily="34" charset="0"/>
                <a:cs typeface="Times New Roman" panose="02020603050405020304" pitchFamily="18" charset="0"/>
              </a:rPr>
              <a:t>35. BİLGİSAYAR MÜHENDİSLİĞİ BÖLÜM BAŞKANLARI KURULU TOPLANTISI</a:t>
            </a:r>
          </a:p>
        </p:txBody>
      </p:sp>
      <p:pic>
        <p:nvPicPr>
          <p:cNvPr id="8" name="Resim 1">
            <a:extLst>
              <a:ext uri="{FF2B5EF4-FFF2-40B4-BE49-F238E27FC236}">
                <a16:creationId xmlns:a16="http://schemas.microsoft.com/office/drawing/2014/main" id="{F4B74CCD-8A14-AC40-8702-A9E8E312B97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4" r:link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118413"/>
            <a:ext cx="2490692" cy="753482"/>
          </a:xfrm>
          <a:prstGeom prst="rect">
            <a:avLst/>
          </a:prstGeom>
          <a:solidFill>
            <a:srgbClr val="00B0F0"/>
          </a:solidFill>
        </p:spPr>
      </p:pic>
      <p:pic>
        <p:nvPicPr>
          <p:cNvPr id="9" name="Image12">
            <a:extLst>
              <a:ext uri="{FF2B5EF4-FFF2-40B4-BE49-F238E27FC236}">
                <a16:creationId xmlns:a16="http://schemas.microsoft.com/office/drawing/2014/main" id="{A2E5998E-A85A-F247-8940-926AE5B6623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82714" y="6118413"/>
            <a:ext cx="2009286" cy="753482"/>
          </a:xfrm>
          <a:prstGeom prst="rect">
            <a:avLst/>
          </a:prstGeom>
          <a:solidFill>
            <a:srgbClr val="FFC000"/>
          </a:solidFill>
        </p:spPr>
      </p:pic>
    </p:spTree>
    <p:extLst>
      <p:ext uri="{BB962C8B-B14F-4D97-AF65-F5344CB8AC3E}">
        <p14:creationId xmlns:p14="http://schemas.microsoft.com/office/powerpoint/2010/main" val="19041967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52" r:id="rId3"/>
    <p:sldLayoutId id="2147483753" r:id="rId4"/>
    <p:sldLayoutId id="2147483754" r:id="rId5"/>
    <p:sldLayoutId id="2147483755" r:id="rId6"/>
    <p:sldLayoutId id="2147483756" r:id="rId7"/>
    <p:sldLayoutId id="2147483757" r:id="rId8"/>
    <p:sldLayoutId id="2147483758" r:id="rId9"/>
    <p:sldLayoutId id="2147483759" r:id="rId10"/>
    <p:sldLayoutId id="214748376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011680"/>
            <a:ext cx="10698480" cy="2011680"/>
          </a:xfrm>
        </p:spPr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An Equivalent-Key Chosen-Plaintext Break of a 2025 Chaos-Based Image Cipher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206240"/>
            <a:ext cx="10698480" cy="182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UBMK’25 · International Conference on Computer Science and Engineering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Track: Computer and Data Security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Author(s) and affiliation withheld for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Introduction: chaos image ciphers keep breaking the same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Chaos-based image ciphers scramble a picture using chaotic (random-looking) math. Most follow a permutation–diffusion design: first shuffle the pixels around (confusion), then mask their values with a keystream — a long random-looking sequence the cipher mixes in (diffusion).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Recurring lesson: if that keystream depends only on the secret key (never on the image), the whole cipher is one fixed transformation — so an equivalent key (a stand-in that decrypts any image without being the real key) can be recovered from a few chosen plaintexts (images the attacker picks and has the cipher encrypt).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Second problem (method): schemes are judged by statistics — entropy (a randomness score), neighbouring-pixel correlation, NPCR/UACI — and near-ideal values are treated as proof of security.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555555"/>
                </a:solidFill>
              </a:rPr>
              <a:t>But none of those scores tests resistance to a chosen-plaintext attack.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We apply both lessons to a 2025 scheme — “LLEO” (Jain et al., Optik, 2025).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The target: LLEO (Jain et al., Optik 2025)</a:t>
            </a:r>
          </a:p>
        </p:txBody>
      </p:sp>
      <p:pic>
        <p:nvPicPr>
          <p:cNvPr id="3" name="Picture 2" descr="p1_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259061"/>
            <a:ext cx="7845552" cy="24587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11312" y="1600200"/>
            <a:ext cx="3950208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Two chaotic maps (simple formulas whose output looks random — Lorenz and logistic) make the keystream that masks each pixel (multiply by K).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Then two Fisher–Yates shuffles (a standard way to randomly reorder a list) rearrange 16 row-blocks, then 16 column-blocks.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Every key element comes from the secret key alone — nothing depends on the image X.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Called “asymmetric,” but the same keys both encrypt and decrypt: it is really symmetric.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845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LLEO encryption (top) and the equivalent-key attack (bottom).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Key insight: LLEO is one fixed “multiply-and-reorder”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Write the image as a list of n = M×N pixels. Every step is just multiply-and-reorder using arithmetic that wraps around at 256 (like hours on a clock), and is fixed once the key is set.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Masking multiplies pixel p by a fixed odd number K[p] (odd, so it can always be divided back out); the two shuffles combine into one fixed reordering of positions.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So  C[j] = K[s(j)] · X[s(j)]  (mod 256): each output pixel is exactly one input pixel times a fixed number — a “monomial” map.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Two gifts to the attacker: no added constant, and no diffusion (each output pixel depends on only one input pixel).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Equivalent-key chosen-plaintext attack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(a) The multiplier — 1 query: encrypt an all-ones image; the output directly reveals K at every position.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(b) The reordering — a few queries: encrypt images whose pixels carry their own position number, then divide out the known K to read off where each pixel came from (the map s).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The pair (s, K) is the equivalent key — it inverts any ciphertext:  X[s(j)] = K[s(j)]^-1 · C[j].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Total cost: 1 + ceil(log_256 MN) chosen plaintexts = just 4 for a 512×512 image — no matter how long the advertised key is.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This matches the known best-possible bound for shuffle-only ciphers; adding more rounds or maps doesn't change the form, so the same attack still works.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Experimental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Reconstructed LLEO from its published description — reimplemented from scratch, no code reused.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Four standard 512×512 grayscale images (Cameraman, Moon, Gravel, Brick); one fixed secret key.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Verified the reconstruction reproduces LLEO's reported statistics before attacking.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All timings single-core wall-clock.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Result: every image recovered pixel-exactly, without the key</a:t>
            </a:r>
          </a:p>
        </p:txBody>
      </p:sp>
      <p:pic>
        <p:nvPicPr>
          <p:cNvPr id="3" name="Picture 2" descr="p1_break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9132" y="1463040"/>
            <a:ext cx="5302854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799" y="1600200"/>
            <a:ext cx="3474721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Only 4 chosen plaintexts per image.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Recovery is bit-identical to the original.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Decryption in a fraction of a second — no key used.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83210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Original -&gt; LLEO ciphertext -&gt; key-free recovery (bit-identical), four images.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Good statistics are not security</a:t>
            </a:r>
          </a:p>
        </p:txBody>
      </p:sp>
      <p:pic>
        <p:nvPicPr>
          <p:cNvPr id="3" name="Picture 2" descr="p1_cipher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87" y="1463040"/>
            <a:ext cx="4348666" cy="2788920"/>
          </a:xfrm>
          <a:prstGeom prst="rect">
            <a:avLst/>
          </a:prstGeom>
        </p:spPr>
      </p:pic>
      <p:pic>
        <p:nvPicPr>
          <p:cNvPr id="4" name="Picture 3" descr="p1_correlation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7879"/>
            <a:ext cx="5577840" cy="27792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251960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Flat histogram of cipher pixel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4251960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Neighbouring-pixel pattern: structure -&gt; uniform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09160"/>
            <a:ext cx="1115568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500">
                <a:solidFill>
                  <a:srgbClr val="1F3355"/>
                </a:solidFill>
              </a:rPr>
              <a:t>Entropy (a randomness score, maximum 8) rises 7.23 -&gt; 7.99; neighbouring pixels go from very alike to almost unrelated (correlation ~ 0); the spread of pixel values is flat.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1F3355"/>
                </a:solidFill>
              </a:rPr>
              <a:t>By every usual yardstick LLEO looks strong — yet it is broken in 4 queries.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The “differential” score (NPCR) is illusory</a:t>
            </a:r>
          </a:p>
        </p:txBody>
      </p:sp>
      <p:pic>
        <p:nvPicPr>
          <p:cNvPr id="3" name="Picture 2" descr="p1_diffusion_di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73641"/>
            <a:ext cx="7132320" cy="362958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NPCR = the percent of pixels that change when you flip a single input pixel. A good cipher should change almost all of them (~99.6%), and LLEO reports ~99.6%.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But with no diffusion, flipping one input pixel changes exactly one output pixel — so the true value is 100/MN ~ 0.0004%, five orders of magnitude smaller.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The 99.6% is really just the difference between two unrelated images (here 99.88%), which any near-uniform cipher reaches and which says nothing about security.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Difference image |C_0-C_1|: dark = unchanged, bright = changed (one fixed key).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Even the chaotic keystreams are not evenly random</a:t>
            </a:r>
          </a:p>
        </p:txBody>
      </p:sp>
      <p:pic>
        <p:nvPicPr>
          <p:cNvPr id="3" name="Picture 2" descr="p1_keystream_ridg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416" y="1463040"/>
            <a:ext cx="6169568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A chi-square test (a standard check for whether values are evenly spread) strongly rejects “evenly random” for both chaotic streams (logistic chi^2 ~ 5.3×10^5).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A secure keystream would be flat, like the uniform reference row at the bottom.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How often each byte value appears: logistic and Lorenz vs. a truly uniform source.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The contribution: a structural oracle that retires the genre</a:t>
            </a:r>
          </a:p>
        </p:txBody>
      </p:sp>
      <p:pic>
        <p:nvPicPr>
          <p:cNvPr id="3" name="Picture 2" descr="p1_oracle_corp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0685" y="1463040"/>
            <a:ext cx="5271030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We package the attack as a black-box test: given only the ability to encrypt chosen images, it decides whether a cipher is one fixed plaintext-independent map and, if so, recovers an equivalent key -- knowing nothing about the scheme inside.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Across 8 schemes it breaks all 5 key-only ones at R = 1 in &lt;= 5 chosen plaintexts: chaos, permutation, additive, affine, and even a modern AES-CTR key stream -- the chaos was never the point; a reused, image-independent keystream is.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It correctly declines the 2 defended schemes that tie the keystream to the image (SHA-256) or a per-image nonce -- so the test retires the whole genre, not one paper.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Recoverability R per scheme (red = broken, green = resists); chosen plaintexts at 512x512.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Discussion: good statistics are not security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 flat histogram, ideal entropy, near-zero correlation, and a large inter-image NPCR all hold for our fixed, key-only map -- yet it is broken in 4 queries.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The single deciding question is binary: does any key material depend on the image? The oracle answers it automatically for any scheme.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The break is sound by construction: LLEO forces its multipliers odd (always invertible), and the equivalent key predicts fresh ciphertexts exactly -- the falsifiable check that the cipher truly ignores the image.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(The scheme's 'asymmetric' label is also a misnomer -- same keys encrypt and decrypt -- but that is cosmetic.)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Conclusions, remedies, and disclosure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LLEO is completely broken by an equivalent-key chosen-plaintext attack in 4 queries and a fraction of a second, despite near-ideal statistics.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More than one break: the structural oracle flags every key-only scheme in a corpus and clears the image-bound ones -- an automated test for the flaw.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Remedies (standard): (i) tie the keystream to the image (seed the chaos from a SHA-256 hash of the image); (ii) add real diffusion (a chaining rule). The identical attack then recovers 100% of pixels against the key-only cipher but only 0.25% (chance) once the keystream is image-seeded.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Statistical scores should support -- not replace -- an explicit chosen-plaintext argument. Authors notified before camera-ready (responsible disclosure).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Appendix: why the break is sound (invertibility &amp; fidelity)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Odd multipliers: LLEO inverts its substitution by a modular conjugate, which forces every multiplier odd (always invertible mod 256). On the reconstruction all are odd and E(0)=0 holds exactly; if even multipliers were allowed the oracle degrades gracefully (about half the positions recovered) rather than returning a wrong inverse.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Fidelity: matching entropy/correlation proves nothing -- the load-bearing check is that the recovered key predicts fresh ciphertexts exactly, which only a plaintext-independent cipher can.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Generality &amp; scale: a very different XOR-and-chain (CBC-like) cipher also falls in 3-4 chosen plaintexts; cost grows only logarithmically with image size (3-4 plaintexts up to 1024x1024).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Selected 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J. Jain et al., “… image encryption …,” Optik 327:172304, 2025  (target scheme).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C. Li et al., “When an attacker meets a cipher-image …,” survey of chaos-cipher breaks, 2019.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G. Alvarez and S. Li, “Some basic cryptographic requirements for chaos-based cryptosystems,” 2006.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C.-Y. Li and C.-C. Lo, optimal known/chosen-plaintext bound for permutation-only ciphers, 2011.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Y. Wu et al., NPCR and UACI randomness tests for image encryption, 2011.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377440"/>
            <a:ext cx="0" cy="1371600"/>
          </a:xfrm>
        </p:spPr>
        <p:txBody>
          <a:bodyPr/>
          <a:lstStyle/>
          <a:p>
            <a:r>
              <a:rPr sz="4000" b="1">
                <a:solidFill>
                  <a:srgbClr val="1F3355"/>
                </a:solidFill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Questions?  ·  Reproduction and attack code released for verification.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870</TotalTime>
  <Words>437</Words>
  <Application>Microsoft Office PowerPoint</Application>
  <PresentationFormat>Geniş ekran</PresentationFormat>
  <Paragraphs>41</Paragraphs>
  <Slides>11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6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11</vt:i4>
      </vt:variant>
    </vt:vector>
  </HeadingPairs>
  <TitlesOfParts>
    <vt:vector size="18" baseType="lpstr">
      <vt:lpstr>-apple-system</vt:lpstr>
      <vt:lpstr>Arial</vt:lpstr>
      <vt:lpstr>Calibri</vt:lpstr>
      <vt:lpstr>Calibri Light</vt:lpstr>
      <vt:lpstr>Times New Roman</vt:lpstr>
      <vt:lpstr>Wingdings</vt:lpstr>
      <vt:lpstr>Custom Design</vt:lpstr>
      <vt:lpstr>Sunum Kılavuzu</vt:lpstr>
      <vt:lpstr>UBMK’25</vt:lpstr>
      <vt:lpstr>Giriş</vt:lpstr>
      <vt:lpstr>Yöntem</vt:lpstr>
      <vt:lpstr>Modeller, Formüller ve Teknikler</vt:lpstr>
      <vt:lpstr>Deneysel Düzenek</vt:lpstr>
      <vt:lpstr>Bulgular ve Tartışma</vt:lpstr>
      <vt:lpstr>Sonuçlar and Gelecek Araştırmalar</vt:lpstr>
      <vt:lpstr>Kaynaklar</vt:lpstr>
      <vt:lpstr>Kaynaklar</vt:lpstr>
      <vt:lpstr>Ekler (Gerekli ise)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subject/>
  <dc:creator>ŞEREF SAĞIROĞLU</dc:creator>
  <cp:keywords/>
  <dc:description/>
  <cp:lastModifiedBy>yeni</cp:lastModifiedBy>
  <cp:revision>74</cp:revision>
  <dcterms:created xsi:type="dcterms:W3CDTF">2018-08-12T18:31:45Z</dcterms:created>
  <dcterms:modified xsi:type="dcterms:W3CDTF">2025-08-10T19:43:05Z</dcterms:modified>
  <cp:category/>
</cp:coreProperties>
</file>