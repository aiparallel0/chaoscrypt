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6"/>
    <p:sldId id="263" r:id="rId5"/>
    <p:sldId id="264" r:id="rId4"/>
    <p:sldId id="265" r:id="rId3"/>
    <p:sldId id="266" r:id="rId2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8" autoAdjust="0"/>
    <p:restoredTop sz="94660"/>
  </p:normalViewPr>
  <p:slideViewPr>
    <p:cSldViewPr snapToGrid="0">
      <p:cViewPr varScale="1">
        <p:scale>
          <a:sx n="98" d="100"/>
          <a:sy n="98" d="100"/>
        </p:scale>
        <p:origin x="86" y="1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1896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1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30E49-FAA3-4103-A19B-88A53BA86019}" type="datetimeFigureOut">
              <a:rPr lang="tr-TR" smtClean="0"/>
              <a:t>10.08.2025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99D66C-2377-4C1A-B265-BC914AD7E5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8817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4810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0201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9297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173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5361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5472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096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502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169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3375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30261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4" Type="http://schemas.openxmlformats.org/officeDocument/2006/relationships/image" Target="../media/image2.png"/><Relationship Id="rId15" Type="http://schemas.openxmlformats.org/officeDocument/2006/relationships/image" Target="file:////var/folders/1s/pqdpz0ts7c57mk136n2fbt5r0000gn/T/com.microsoft.Word/WebArchiveCopyPasteTempFiles/logomain.png" TargetMode="External"/><Relationship Id="rId16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E9C27-8E88-4EB3-A617-0E6C04A38702}" type="datetimeFigureOut">
              <a:rPr lang="en-US" smtClean="0"/>
              <a:t>8/10/2025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5F23C-2349-4F07-85CE-C491D1B1E46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ikdörtgen 3">
            <a:extLst>
              <a:ext uri="{FF2B5EF4-FFF2-40B4-BE49-F238E27FC236}">
                <a16:creationId xmlns:a16="http://schemas.microsoft.com/office/drawing/2014/main" id="{D239104A-9FE5-DF47-8BF3-027C1B59D68A}"/>
              </a:ext>
            </a:extLst>
          </p:cNvPr>
          <p:cNvSpPr/>
          <p:nvPr userDrawn="1"/>
        </p:nvSpPr>
        <p:spPr>
          <a:xfrm>
            <a:off x="838200" y="6118029"/>
            <a:ext cx="10515600" cy="7386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r-TR" altLang="tr-TR" sz="1400" b="1" dirty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VI. INTERNATIONAL CONFERENCE ON COMPUTER SCIENCE AND ENGINEERING</a:t>
            </a:r>
            <a:r>
              <a:rPr lang="tr-TR" altLang="tr-TR" sz="1400" dirty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400" b="1" dirty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(UBMK 2021)</a:t>
            </a:r>
          </a:p>
          <a:p>
            <a:pPr algn="ctr"/>
            <a:r>
              <a:rPr lang="tr-TR" altLang="tr-TR" sz="1400" b="1" dirty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tr-TR" sz="1400" b="1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35. BİLGİSAYAR MÜHENDİSLİĞİ BÖLÜM BAŞKANLARI KURULU TOPLANTISI</a:t>
            </a:r>
          </a:p>
        </p:txBody>
      </p:sp>
      <p:pic>
        <p:nvPicPr>
          <p:cNvPr id="8" name="Resim 1">
            <a:extLst>
              <a:ext uri="{FF2B5EF4-FFF2-40B4-BE49-F238E27FC236}">
                <a16:creationId xmlns:a16="http://schemas.microsoft.com/office/drawing/2014/main" id="{F4B74CCD-8A14-AC40-8702-A9E8E312B9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r:link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8413"/>
            <a:ext cx="2490692" cy="753482"/>
          </a:xfrm>
          <a:prstGeom prst="rect">
            <a:avLst/>
          </a:prstGeom>
          <a:solidFill>
            <a:srgbClr val="00B0F0"/>
          </a:solidFill>
        </p:spPr>
      </p:pic>
      <p:pic>
        <p:nvPicPr>
          <p:cNvPr id="9" name="Image12">
            <a:extLst>
              <a:ext uri="{FF2B5EF4-FFF2-40B4-BE49-F238E27FC236}">
                <a16:creationId xmlns:a16="http://schemas.microsoft.com/office/drawing/2014/main" id="{A2E5998E-A85A-F247-8940-926AE5B662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2714" y="6118413"/>
            <a:ext cx="2009286" cy="753482"/>
          </a:xfrm>
          <a:prstGeom prst="rect">
            <a:avLst/>
          </a:prstGeom>
          <a:solidFill>
            <a:srgbClr val="FFC000"/>
          </a:solidFill>
        </p:spPr>
      </p:pic>
    </p:spTree>
    <p:extLst>
      <p:ext uri="{BB962C8B-B14F-4D97-AF65-F5344CB8AC3E}">
        <p14:creationId xmlns:p14="http://schemas.microsoft.com/office/powerpoint/2010/main" val="1904196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11680"/>
            <a:ext cx="10698480" cy="2011680"/>
          </a:xfrm>
        </p:spPr>
        <p:txBody>
          <a:bodyPr/>
          <a:lstStyle/>
          <a:p>
            <a:r>
              <a:rPr sz="3000" b="1">
                <a:solidFill>
                  <a:srgbClr val="1F3355"/>
                </a:solidFill>
              </a:rPr>
              <a:t>An Equivalent-Key Chosen-Plaintext Break of a 2025 Chaos-Based Image Cipher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69848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Good statistics are not security: a 2025 cipher broken in 4 chosen plaintexts</a:t>
            </a:r>
          </a:p>
          <a:p>
            <a:pPr algn="ctr"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UBMK’25 · International Conference on Computer Science and Engineering</a:t>
            </a:r>
          </a:p>
          <a:p>
            <a:pPr algn="ctr"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Track: Computer and Data Security</a:t>
            </a:r>
          </a:p>
          <a:p>
            <a:pPr algn="ctr"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Author(s) and affiliation withheld for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355"/>
                </a:solidFill>
              </a:rPr>
              <a:t>Introduction: chaos image ciphers keep breaking the same 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83080"/>
            <a:ext cx="10927080" cy="4114800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Chaos-based image ciphers scramble a picture using chaotic (random-looking) math. Most follow a permutation–diffusion design: first shuffle the pixels around (confusion), then mask their values with a keystream, a long random-looking sequence the cipher mixes in (diffusion).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Recurring lesson: if that keystream depends only on the secret key (never on the image), the whole cipher is one fixed transformation, so an equivalent key (a stand-in that decrypts any image without being the real key) can be recovered from a few chosen plaintexts (images the attacker picks and has the cipher encrypt).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Second problem (method): schemes are judged by statistics: entropy (a randomness score), neighbouring-pixel correlation, NPCR/UACI. Near-ideal values are treated as proof of security.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555555"/>
                </a:solidFill>
              </a:rPr>
              <a:t>But none of those scores tests resistance to a chosen-plaintext attack.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Why this matters operationally: image ciphers protect real data: medical scans, sealed evidence, access-controlled documents. A break is not a per-image slip but a standing ability to decrypt every future ciphertext of that size, so security must rest on an attack model, not a statistics table.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We apply both lessons to a 2025 scheme: “LLEO” (Jain et al., Optik, 2025).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355"/>
                </a:solidFill>
              </a:rPr>
              <a:t>The target: LLEO (Jain et al., Optik 2025)</a:t>
            </a:r>
          </a:p>
        </p:txBody>
      </p:sp>
      <p:pic>
        <p:nvPicPr>
          <p:cNvPr id="3" name="Picture 2" descr="p1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59061"/>
            <a:ext cx="7845552" cy="2458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11312" y="1600200"/>
            <a:ext cx="3950208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Two chaotic maps (simple formulas whose output looks random: Lorenz and logistic) make the keystream that masks each pixel (multiply by K).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Then two Fisher–Yates shuffles (a standard way to randomly reorder a list) rearrange 16 row-blocks, then 16 column-blocks.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Every key element comes from the secret key alone, nothing depends on the image X.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Called “asymmetric,” but the same keys both encrypt and decrypt: it is really symmetric.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513832"/>
            <a:ext cx="7845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</a:rPr>
              <a:t>LLEO encryption (top) and the equivalent-key attack (bottom).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355"/>
                </a:solidFill>
              </a:rPr>
              <a:t>Key insight: LLEO is one fixed “multiply-and-reorder”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83080"/>
            <a:ext cx="10927080" cy="4114800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Write the image as a list of n = M×N pixels. Every step is just multiply-and-reorder using arithmetic that wraps around at 256 (like hours on a clock), and is fixed once the key is set.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Masking multiplies pixel p by a fixed odd number K[p] (odd, so it can always be divided back out); the two shuffles combine into one fixed reordering of positions.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So  C[j] = K[s(j)] · X[s(j)]  (mod 256): each output pixel is exactly one input pixel times a fixed number, a “monomial” map.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Two gifts to the attacker: no added constant, and no diffusion (each output pixel depends on only one input pixel).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355"/>
                </a:solidFill>
              </a:rPr>
              <a:t>Four images recover the full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83080"/>
            <a:ext cx="10927080" cy="4114800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(a) The multiplier, 1 query: encrypt an all-ones image; the output directly reveals K at every position.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(b) The reordering, a few queries: encrypt images whose pixels carry their own position number, then divide out the known K to read off where each pixel came from (the map s).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The pair (s, K) is the equivalent key. It inverts any ciphertext:  X[s(j)] = K[s(j)]^-1 · C[j].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Total cost: 1 + ceil(log_256 MN) chosen plaintexts = just 4 for a 512×512 image, no matter how long the advertised key is.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This matches the known best-possible bound for shuffle-only ciphers; adding more rounds or maps doesn't change the form, so the same attack still 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355"/>
                </a:solidFill>
              </a:rP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83080"/>
            <a:ext cx="10927080" cy="4114800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Reconstructed LLEO from its published description, reimplemented from scratch, no code reused.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Four standard 512×512 grayscale images (Cameraman, Moon, Gravel, Brick); one fixed secret key.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Verified the reconstruction reproduces LLEO's reported statistics before attacking.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All timings single-core wall-clock.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355"/>
                </a:solidFill>
              </a:rPr>
              <a:t>Result: every image recovered pixel-exactly, without the key</a:t>
            </a:r>
          </a:p>
        </p:txBody>
      </p:sp>
      <p:pic>
        <p:nvPicPr>
          <p:cNvPr id="3" name="Picture 2" descr="p1_break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150" y="1463040"/>
            <a:ext cx="5210819" cy="4050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799" y="1600200"/>
            <a:ext cx="3474721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Only 4 chosen plaintexts per image.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Recovery is bit-identical to the original.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Decryption in 0.037 s at 512x512 (single core), no key 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513832"/>
            <a:ext cx="8321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</a:rPr>
              <a:t>Original -&gt; LLEO ciphertext -&gt; key-free recovery (bit-identical), four images.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355"/>
                </a:solidFill>
              </a:rPr>
              <a:t>Good statistics are not security</a:t>
            </a:r>
          </a:p>
        </p:txBody>
      </p:sp>
      <p:pic>
        <p:nvPicPr>
          <p:cNvPr id="3" name="Picture 2" descr="p1_cipher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87" y="1463040"/>
            <a:ext cx="4348666" cy="2788920"/>
          </a:xfrm>
          <a:prstGeom prst="rect">
            <a:avLst/>
          </a:prstGeom>
        </p:spPr>
      </p:pic>
      <p:pic>
        <p:nvPicPr>
          <p:cNvPr id="4" name="Picture 3" descr="p1_correlation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7879"/>
            <a:ext cx="5577840" cy="27792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5196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</a:rPr>
              <a:t>Flat histogram of cipher pixel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25196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</a:rPr>
              <a:t>Neighbouring-pixel pattern: structure -&gt; uniform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1115568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1F3355"/>
                </a:solidFill>
              </a:rPr>
              <a:t>Entropy (a randomness score, maximum 8) rises 7.23 -&gt; 7.99; neighbouring pixels go from very alike to almost unrelated (correlation ~ 0); the spread of pixel values is flat.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F3355"/>
                </a:solidFill>
              </a:rPr>
              <a:t>By every usual yardstick LLEO looks strong, yet it is broken in 4 queries.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355"/>
                </a:solidFill>
              </a:rPr>
              <a:t>The “differential” score (NPCR) is illusory</a:t>
            </a:r>
          </a:p>
        </p:txBody>
      </p:sp>
      <p:pic>
        <p:nvPicPr>
          <p:cNvPr id="3" name="Picture 2" descr="p1_diffusion_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73641"/>
            <a:ext cx="7132320" cy="36295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80" y="1600200"/>
            <a:ext cx="466344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NPCR = the percent of pixels that change when you flip a single input pixel. A good cipher should change almost all of them (~99.6%), and LLEO reports ~99.6%.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But with no diffusion, flipping one input pixel changes exactly one output pixel, so the true value is 100/MN ~ 0.0004%, five orders of magnitude smaller.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The 99.6% is really just the difference between two unrelated images (here 99.88%), which any near-uniform cipher reaches and which says nothing about security.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513832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</a:rPr>
              <a:t>Difference image |C_0-C_1|: dark = unchanged, bright = changed (one fixed key).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355"/>
                </a:solidFill>
              </a:rPr>
              <a:t>Even the chaotic keystreams are not evenly random</a:t>
            </a:r>
          </a:p>
        </p:txBody>
      </p:sp>
      <p:pic>
        <p:nvPicPr>
          <p:cNvPr id="3" name="Picture 2" descr="p1_keystream_ridg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6" y="1463040"/>
            <a:ext cx="6169568" cy="4050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80" y="1600200"/>
            <a:ext cx="466344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A chi-square test (a standard check for whether values are evenly spread) strongly rejects “evenly random” for both chaotic streams (logistic chi^2 ~ 5.3×10^5).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A secure keystream would be flat, like the uniform reference row at the bottom.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513832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</a:rPr>
              <a:t>How often each byte value appears: logistic and Lorenz vs. a truly uniform source.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355"/>
                </a:solidFill>
              </a:rPr>
              <a:t>The contribution: a reusable structural audit</a:t>
            </a:r>
          </a:p>
        </p:txBody>
      </p:sp>
      <p:pic>
        <p:nvPicPr>
          <p:cNvPr id="3" name="Picture 2" descr="p1_oracle_corp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685" y="1463040"/>
            <a:ext cx="5271030" cy="4050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80" y="1600200"/>
            <a:ext cx="466344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We package the attack as a black-box test: given only the ability to encrypt chosen images, it decides whether a cipher is one fixed plaintext-independent map and, if so, recovers an equivalent key, knowing nothing about the scheme inside, and CERTIFYING each verdict by predicting fresh ciphertext exactly (a check we prove sound).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On 8 structural archetypes it breaks all 5 fully key-only ones at R = 1 in &lt;= 5 chosen plaintexts (chaos, permutation, additive, affine, even a modern AES-CTR key stream); 2 image-/nonce-bound schemes correctly resist; a 6th, with non-invertible multipliers, degrades GRACEFULLY (R = 0.52, PARTIAL), the deliberate boundary.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The chaos was never the point: a reused, image-independent keystream is. This is a reusable audit, not a one-paper break.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513832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</a:rPr>
              <a:t>Recoverability R per scheme on an archetype corpus (red = broken, green = resists); chosen plaintexts at 512x512.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355"/>
                </a:solidFill>
              </a:rPr>
              <a:t>Run on four real published 2023–2025 ciphers</a:t>
            </a:r>
          </a:p>
        </p:txBody>
      </p:sp>
      <p:pic>
        <p:nvPicPr>
          <p:cNvPr id="3" name="Picture 2" descr="p1_published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282" y="1463040"/>
            <a:ext cx="5095836" cy="4050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80" y="1600200"/>
            <a:ext cx="466344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We reconstructed four real, open-access chaos image ciphers from their equations and ran the audit. Each reproduces the originals' near-ideal entropy (~7.99) and inter-image NPCR (~99.6%), so the rebuilds behave like the published ciphers where it counts.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Seeding decides the verdict. LSCM-CA (Sun et al. 2025) is key-only -&gt; BROKEN (R = 1.0, 12 chosen plaintexts), but only after a GF(2)-affine 'bitlinear' extension to peel its per-pixel cellular-automata layer, which the plain affine/XOR model misses. The other three bind the keystream to the plaintext (SHA-256 / block sum) -&gt; correctly RESIST.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Honest limits: two 'resists' are thin (one injects only a 256-way scalar; one collapses if a 64-pixel seed block is fixed), and the two cheap signals cannot tell genuine binding from a near-miss. We mark this, not hide it. Reconstructions are paper-only; LLEO is the one fully-validated break.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513832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</a:rPr>
              <a:t>The audit in its two signals (avalanche vs. recoverability) on real schemes rebuilt from their papers.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355"/>
                </a:solidFill>
              </a:rPr>
              <a:t>The graded fix: plaintext-keying capacity beta</a:t>
            </a:r>
          </a:p>
        </p:txBody>
      </p:sp>
      <p:pic>
        <p:nvPicPr>
          <p:cNvPr id="3" name="Picture 2" descr="p1_beta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67927"/>
            <a:ext cx="7132320" cy="28410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80" y="1600200"/>
            <a:ext cx="466344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The avalanche and recoverability signals cannot tell a fragile near-miss from genuine binding: the two schemes overlap (left). So we add a graded capacity beta: how many genuinely different ciphers the plaintext can switch the cipher's map between.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beta = 0 means one fixed map (key-only, BROKEN); a large beta means every image gets its own unrelated map (RESISTS). It is estimated black-box from chosen plaintexts as a collision rate.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F3355"/>
                </a:solidFill>
              </a:rPr>
              <a:t>So beta separates the schemes the two signals could not: a fragile 256-way scalar (beta = 8) from genuine SHA-256 binding (beta &gt;= 32), turning the one-bit verdict into a measured, falsifiable gap.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513832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</a:rPr>
              <a:t>Left: the two cheap signals overlap. Right: the beta axis separates fragile from genuine.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355"/>
                </a:solidFill>
              </a:rPr>
              <a:t>Discussion: good statistics are not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83080"/>
            <a:ext cx="10927080" cy="4114800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A flat histogram, ideal entropy, near-zero correlation, and a large inter-image NPCR all hold for our fixed, key-only map, yet it is broken in 4 queries.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The single deciding question is binary: does any key material depend on the image? The oracle answers it automatically for any scheme.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The break is sound by construction: LLEO forces its multipliers odd (always invertible), and the equivalent key predicts fresh ciphertexts exactly, the falsifiable check that the cipher truly ignores the image.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(The scheme's 'asymmetric' label is also a misnomer, same keys encrypt and decrypt, but that is cosmetic.)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355"/>
                </a:solidFill>
              </a:rPr>
              <a:t>Conclusions, remedies, and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83080"/>
            <a:ext cx="10927080" cy="4114800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LLEO is completely broken by an equivalent-key chosen-plaintext attack in 4 queries and a fraction of a second, despite near-ideal statistics.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More than one break: the audit flags every fully key-only scheme in an 8-archetype corpus and, on four real published 2023-2025 ciphers, breaks the one key-only design (LSCM-CA) and clears three plaintext-bound ones, one break needing a GF(2)-affine extension.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Remedies (standard): (i) tie the keystream to the image (seed the chaos from a SHA-256 hash of the image); (ii) add real diffusion (a chaining rule). The identical attack then recovers 100% of pixels against the key-only cipher but only 0.25% (chance) once the keystream is image-seeded.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Statistical scores should support, not replace, an explicit chosen-plaintext argument. Authors of both broken schemes (LLEO and LSCM-CA) emailed at submission; no response yet (responsible disclosure).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355"/>
                </a:solidFill>
              </a:rPr>
              <a:t>Appendix: why the break is sound (invertibility &amp; fidelity)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83080"/>
            <a:ext cx="10927080" cy="4114800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Odd multipliers: LLEO inverts its substitution by a modular conjugate, which forces every multiplier odd (always invertible mod 256). On the reconstruction all are odd and E(0)=0 holds exactly; if even multipliers were allowed the oracle degrades gracefully (about half the positions recovered) rather than returning a wrong inverse.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Fidelity: matching entropy/correlation proves nothing. The load-bearing check is that the recovered key predicts fresh ciphertexts exactly, which only a plaintext-independent cipher can.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Generality &amp; scale: a very different XOR-and-chain (CBC-like) cipher also falls in 3-4 chosen plaintexts; cost grows only logarithmically with image size (3-4 plaintexts up to 1024x1024).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3355"/>
                </a:solidFill>
              </a:rPr>
              <a:t>Selected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83080"/>
            <a:ext cx="10927080" cy="4114800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J. Jain et al., LLEO chaos-based image-encryption scheme, Optik 327:172304, 2025  (target scheme).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C. Li et al., “When an attacker meets a cipher-image,” survey of chaos-cipher breaks, 2019.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G. Alvarez and S. Li, “Some basic cryptographic requirements for chaos-based cryptosystems,” 2006.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C.-Y. Li and C.-C. Lo, optimal known/chosen-plaintext bound for permutation-only ciphers, 2011.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Y. Wu et al., NPCR and UACI randomness tests for image encryption, 2011.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77440"/>
            <a:ext cx="0" cy="1371600"/>
          </a:xfrm>
        </p:spPr>
        <p:txBody>
          <a:bodyPr/>
          <a:lstStyle/>
          <a:p>
            <a:r>
              <a:rPr sz="4000" b="1">
                <a:solidFill>
                  <a:srgbClr val="1F3355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400"/>
              </a:spcAft>
            </a:pPr>
            <a:r>
              <a:rPr sz="1800">
                <a:solidFill>
                  <a:srgbClr val="1F3355"/>
                </a:solidFill>
              </a:rPr>
              <a:t>Questions?  ·  Reproduction and attack code released for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870</TotalTime>
  <Words>437</Words>
  <Application>Microsoft Office PowerPoint</Application>
  <PresentationFormat>Geniş ekran</PresentationFormat>
  <Paragraphs>41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8" baseType="lpstr">
      <vt:lpstr>-apple-system</vt:lpstr>
      <vt:lpstr>Arial</vt:lpstr>
      <vt:lpstr>Calibri</vt:lpstr>
      <vt:lpstr>Calibri Light</vt:lpstr>
      <vt:lpstr>Times New Roman</vt:lpstr>
      <vt:lpstr>Wingdings</vt:lpstr>
      <vt:lpstr>Custom Design</vt:lpstr>
      <vt:lpstr>Sunum Kılavuzu</vt:lpstr>
      <vt:lpstr>UBMK’25</vt:lpstr>
      <vt:lpstr>Giriş</vt:lpstr>
      <vt:lpstr>Yöntem</vt:lpstr>
      <vt:lpstr>Modeller, Formüller ve Teknikler</vt:lpstr>
      <vt:lpstr>Deneysel Düzenek</vt:lpstr>
      <vt:lpstr>Bulgular ve Tartışma</vt:lpstr>
      <vt:lpstr>Sonuçlar and Gelecek Araştırmalar</vt:lpstr>
      <vt:lpstr>Kaynaklar</vt:lpstr>
      <vt:lpstr>Kaynaklar</vt:lpstr>
      <vt:lpstr>Ekler (Gerekli ise)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>ŞEREF SAĞIROĞLU</dc:creator>
  <cp:keywords/>
  <dc:description/>
  <cp:lastModifiedBy>yeni</cp:lastModifiedBy>
  <cp:revision>74</cp:revision>
  <dcterms:created xsi:type="dcterms:W3CDTF">2018-08-12T18:31:45Z</dcterms:created>
  <dcterms:modified xsi:type="dcterms:W3CDTF">2025-08-10T19:43:05Z</dcterms:modified>
  <cp:category/>
</cp:coreProperties>
</file>