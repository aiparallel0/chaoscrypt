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9" r:id="rId1"/>
  </p:sldMasterIdLst>
  <p:notesMasterIdLst>
    <p:notesMasterId r:id="rId1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6"/>
    <p:sldId id="263" r:id="rId5"/>
    <p:sldId id="264" r:id="rId4"/>
    <p:sldId id="265" r:id="rId3"/>
    <p:sldId id="266" r:id="rId2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588" autoAdjust="0"/>
    <p:restoredTop sz="94660"/>
  </p:normalViewPr>
  <p:slideViewPr>
    <p:cSldViewPr snapToGrid="0">
      <p:cViewPr varScale="1">
        <p:scale>
          <a:sx n="98" d="100"/>
          <a:sy n="98" d="100"/>
        </p:scale>
        <p:origin x="86" y="11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7" d="100"/>
          <a:sy n="57" d="100"/>
        </p:scale>
        <p:origin x="1896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1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F30E49-FAA3-4103-A19B-88A53BA86019}" type="datetimeFigureOut">
              <a:rPr lang="tr-TR" smtClean="0"/>
              <a:t>10.08.2025</a:t>
            </a:fld>
            <a:endParaRPr lang="tr-TR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99D66C-2377-4C1A-B265-BC914AD7E50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08817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448103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30201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79297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31730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05361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95472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5096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45025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516943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63375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230261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Relationship Id="rId14" Type="http://schemas.openxmlformats.org/officeDocument/2006/relationships/image" Target="../media/image2.png"/><Relationship Id="rId15" Type="http://schemas.openxmlformats.org/officeDocument/2006/relationships/image" Target="file:////var/folders/1s/pqdpz0ts7c57mk136n2fbt5r0000gn/T/com.microsoft.Word/WebArchiveCopyPasteTempFiles/logomain.png" TargetMode="External"/><Relationship Id="rId16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E9C27-8E88-4EB3-A617-0E6C04A38702}" type="datetimeFigureOut">
              <a:rPr lang="en-US" smtClean="0"/>
              <a:t>8/10/2025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E5F23C-2349-4F07-85CE-C491D1B1E46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Dikdörtgen 3">
            <a:extLst>
              <a:ext uri="{FF2B5EF4-FFF2-40B4-BE49-F238E27FC236}">
                <a16:creationId xmlns:a16="http://schemas.microsoft.com/office/drawing/2014/main" id="{D239104A-9FE5-DF47-8BF3-027C1B59D68A}"/>
              </a:ext>
            </a:extLst>
          </p:cNvPr>
          <p:cNvSpPr/>
          <p:nvPr userDrawn="1"/>
        </p:nvSpPr>
        <p:spPr>
          <a:xfrm>
            <a:off x="838200" y="6118029"/>
            <a:ext cx="10515600" cy="73866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VI. INTERNATIONAL CONFERENCE ON COMPUTER SCIENCE AND ENGINEERING</a:t>
            </a:r>
            <a:r>
              <a:rPr lang="tr-TR" altLang="tr-TR" sz="1400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(UBMK 2021)</a:t>
            </a:r>
          </a:p>
          <a:p>
            <a:pPr algn="ctr"/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/>
            <a:r>
              <a:rPr lang="tr-TR" sz="1400" b="1" dirty="0">
                <a:solidFill>
                  <a:srgbClr val="0070C0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35. BİLGİSAYAR MÜHENDİSLİĞİ BÖLÜM BAŞKANLARI KURULU TOPLANTISI</a:t>
            </a:r>
          </a:p>
        </p:txBody>
      </p:sp>
      <p:pic>
        <p:nvPicPr>
          <p:cNvPr id="8" name="Resim 1">
            <a:extLst>
              <a:ext uri="{FF2B5EF4-FFF2-40B4-BE49-F238E27FC236}">
                <a16:creationId xmlns:a16="http://schemas.microsoft.com/office/drawing/2014/main" id="{F4B74CCD-8A14-AC40-8702-A9E8E312B97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4" r:link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118413"/>
            <a:ext cx="2490692" cy="753482"/>
          </a:xfrm>
          <a:prstGeom prst="rect">
            <a:avLst/>
          </a:prstGeom>
          <a:solidFill>
            <a:srgbClr val="00B0F0"/>
          </a:solidFill>
        </p:spPr>
      </p:pic>
      <p:pic>
        <p:nvPicPr>
          <p:cNvPr id="9" name="Image12">
            <a:extLst>
              <a:ext uri="{FF2B5EF4-FFF2-40B4-BE49-F238E27FC236}">
                <a16:creationId xmlns:a16="http://schemas.microsoft.com/office/drawing/2014/main" id="{A2E5998E-A85A-F247-8940-926AE5B6623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82714" y="6118413"/>
            <a:ext cx="2009286" cy="753482"/>
          </a:xfrm>
          <a:prstGeom prst="rect">
            <a:avLst/>
          </a:prstGeom>
          <a:solidFill>
            <a:srgbClr val="FFC000"/>
          </a:solidFill>
        </p:spPr>
      </p:pic>
    </p:spTree>
    <p:extLst>
      <p:ext uri="{BB962C8B-B14F-4D97-AF65-F5344CB8AC3E}">
        <p14:creationId xmlns:p14="http://schemas.microsoft.com/office/powerpoint/2010/main" val="19041967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2" r:id="rId3"/>
    <p:sldLayoutId id="2147483753" r:id="rId4"/>
    <p:sldLayoutId id="2147483754" r:id="rId5"/>
    <p:sldLayoutId id="2147483755" r:id="rId6"/>
    <p:sldLayoutId id="2147483756" r:id="rId7"/>
    <p:sldLayoutId id="2147483757" r:id="rId8"/>
    <p:sldLayoutId id="2147483758" r:id="rId9"/>
    <p:sldLayoutId id="2147483759" r:id="rId10"/>
    <p:sldLayoutId id="214748376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011680"/>
            <a:ext cx="10698480" cy="2011680"/>
          </a:xfrm>
        </p:spPr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Knowing When to Abstain: Calibration and Selective Prediction for ML Network Intrusion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206240"/>
            <a:ext cx="10698480" cy="182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The much-cited 'detection collapse' on unknown attacks is mostly a thresholding artifact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UBMK’25 · International Conference on Computer Science and Engineering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Track: Computer and Data Security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Author(s) and affiliation withheld for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Introduction: detectors that fail silently</a:t>
            </a:r>
          </a:p>
        </p:txBody>
      </p:sp>
      <p:pic>
        <p:nvPicPr>
          <p:cNvPr id="3" name="Picture 2" descr="p2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371760"/>
            <a:ext cx="7370064" cy="22333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35824" y="1600200"/>
            <a:ext cx="4425696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 detector that outputs a single hard label (“attack” or “normal”) gives no signal of when to trust it — and stays silent on attacks it never saw in training.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Better: let it abstain — say “I’m not sure” on low-confidence inputs and pass them to an analyst or a backup check. This is called selective prediction.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Question: do ordinary, off-the-shelf detectors know when they are wrong?</a:t>
            </a:r>
          </a:p>
          <a:p>
            <a:pPr lvl="1" algn="l">
              <a:spcAft>
                <a:spcPts val="400"/>
              </a:spcAft>
            </a:pPr>
            <a:r>
              <a:rPr sz="1400">
                <a:solidFill>
                  <a:srgbClr val="555555"/>
                </a:solidFill>
              </a:rPr>
              <a:t>We propose no new detector; we test the ones people already use.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37006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The selective-prediction (“reject-option”) wrapper we evaluate.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Contributions: a dissociation between two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Over-confidence is task-dependent: detectors are badly miscalibrated under NSL-KDD's shift and NO post-hoc fix (Platt, isotonic, or temperature scaling) transfers -- yet on two modern flow datasets the same task is well calibrated.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The benign-mimicry blind spot is an operating-point failure, not a representational one, and it recurs across all three datasets. R2L is nearly missed at the default threshold (recall 0.06) yet its score is discriminative (AUROC 0.87); a per-family threshold recovers much of it (0.49). Class balancing does not help -- so the cause is the threshold, not class frequency.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Selective prediction is useful but bounded: it helps only when confidence ranks errors; and on the benign-mimicking blind spot the lever is the OPERATING POINT -- a budget-tuned threshold recovers most of what argmax misses, while stacking abstention+novelty adds no gain at matched cost.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Calibration -- does a model's stated confidence match how often it is right? We measure the gap with expected calibration error (ECE) -- and the Brier score, a proper scoring rule, agrees -- then try three standard fixes (Platt, isotonic, and temperature scaling), each fit only on held-out training data so no test information leaks in.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Selective prediction -- confidence = the model's top class probability. The risk-coverage curve plots error against the fraction answered; the area under it (AURC) summarizes it (lower is better).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Open-set (LOFO): drop one attack family from training, retrain, and measure detection on the unseen family. To separate a threshold artifact from true indistinguishability we also report threshold-free per-family detection AUROC.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Honesty checks: a bootstrap over the (fixed) test set -- the seed-only intervals understate uncertainty about 5x -- and conformal prediction, which promises a hit-rate as long as new data looks like the old.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Models, confidence signals, and novelty detectors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Detectors: logistic regression (a simple linear model), a random forest, and gradient boosting (both built from many decision trees) — deliberately ordinary; the subject is their confidence, not the architecture.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555555"/>
                </a:solidFill>
              </a:rPr>
              <a:t>A neural MLP is added as a supplementary fourth family in the model summary, to check the confidence-ranking finding generalizes beyond trees and the linear model.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Confidence signals compared: the top class probability (max-softmax), how much the forest’s trees disagree, and two “distance-from-normal” scores (Mahalanobis and nearest-neighbour).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Novelty detectors — trained only on normal traffic to flag anything unusual: Isolation Forest and a one-class SVM.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Experimental setup: datasets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NSL-KDD — a public benchmark of network connections (~126k train / 22.5k test, 41 measured features each); attacks fall into four families (DoS, Probe, R2L, U2R). Its test set deliberately includes attack types missing from training — a built-in unknown-attack test.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CIC-IDS-2017 — a newer dataset of network “flows” (per-connection summaries, 78 features), over three days (DDoS, PortScan, Web attacks).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CSE-CIC-IDS-2018 — a different network and year, used to test transfer on the 27 features the two datasets share by name.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Each result averages many random repeats; the official test sets are kept fixed.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Finding 1: the blind spot is a threshold failure, not indistinguishability</a:t>
            </a:r>
          </a:p>
        </p:txBody>
      </p:sp>
      <p:pic>
        <p:nvPicPr>
          <p:cNvPr id="3" name="Picture 2" descr="p2_perfamily_au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370" y="1463040"/>
            <a:ext cx="5695659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 most attackable reading -- 'R2L is just an unbalanced classifier at the default cut' -- is wrong about the cause. The attack score separates R2L from normal well above chance (AUROC 0.87 seen, 0.80 unknown).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At the global default threshold only 0.06 of R2L is flagged; class-balancing barely moves it (0.06); a per-family threshold recovers 0.49. So a single global operating point fails a minority, look-like-normal family.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Threshold-free, holding a family out of training costs little AUROC (DoS -0.06, R2L -0.07) -- so the dramatic 'detection collapse' on unknown families is largely a thresholding artifact.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Per-family detection AUROC (threshold-free), family seen vs. held out of training.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Finding 2: over-confident under shift, and no calibrator fixes it</a:t>
            </a:r>
          </a:p>
        </p:txBody>
      </p:sp>
      <p:pic>
        <p:nvPicPr>
          <p:cNvPr id="3" name="Picture 2" descr="p2_calibration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668" y="1463040"/>
            <a:ext cx="6317064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On data like the training set the models are nearly perfectly calibrated (error below 0.01); on the real shifted test set it jumps to about 0.16-0.22.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No post-hoc fix removes it: Platt, isotonic, and temperature scaling all stay high (every marker clusters at the top) -- each is fit on the source distribution.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Source-calibrated probabilities do not certify the deployed distribution -- which is why we turn to abstention (it needs only a usable confidence ranking).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Calibration error on the shifted test set under four post-hoc calibrators (per model).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Finding 3: abstaining helps — if confidence ranks errors</a:t>
            </a:r>
          </a:p>
        </p:txBody>
      </p:sp>
      <p:pic>
        <p:nvPicPr>
          <p:cNvPr id="3" name="Picture 2" descr="p2_risk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931" y="1463040"/>
            <a:ext cx="5424538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Tree-based models: refusing the least-confident 20% cuts error 0.20 -&gt; 0.11 (area under the curve ~ 0.05; lower is better).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 linear model’s confidence barely ranks its mistakes (area ~ 0.23) — so abstaining buys little.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Abstaining is only as good as the confidence signal behind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Error among answered cases vs. the fraction answered; ring = the 80%-answered point.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Finding 4: why R2L is the blind spot</a:t>
            </a:r>
          </a:p>
        </p:txBody>
      </p:sp>
      <p:pic>
        <p:nvPicPr>
          <p:cNvPr id="3" name="Picture 2" descr="p2_benign_manif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4885"/>
            <a:ext cx="7845552" cy="368710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11312" y="1600200"/>
            <a:ext cx="3950208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R2L’s records pile up right on top of the normal ones — inside the “looks-normal” region — for both independent novelty detectors.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It mimics ordinary traffic, so neither abstaining nor a normal-only novelty check can cleanly flag it; DoS, Probe, and U2R clearly stand out.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845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(a) how unusual each record looks to two “normal-only” detectors; (b) the same, per family.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Finding 5: a normal-only novelty stage partly closes the gap</a:t>
            </a:r>
          </a:p>
        </p:txBody>
      </p:sp>
      <p:pic>
        <p:nvPicPr>
          <p:cNvPr id="3" name="Picture 2" descr="p2_novelty_au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22" y="1463040"/>
            <a:ext cx="5815555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Trained only on normal traffic, Isolation Forest / one-class SVM separate DoS, Probe, U2R well (score ~ 0.90–0.99).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R2L stays hardest (~ 0.73–0.82) — it overlaps normal traffic the most.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Abstaining and novelty detection catch different failures, so use both.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How well each attack family separates from normal traffic (1 = perfect, 0.5 = chance).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The recipe, re-baselined honestly</a:t>
            </a:r>
          </a:p>
        </p:txBody>
      </p:sp>
      <p:pic>
        <p:nvPicPr>
          <p:cNvPr id="3" name="Picture 2" descr="p2_combined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979" y="1463040"/>
            <a:ext cx="5820441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 earlier 0.003 -&gt; 0.40 gain was measured against the argmax default -- a bad threshold for a minority family. We re-baseline against a single threshold TUNED to the same review budget.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At matched cost: argmax 0.00; a tuned threshold 0.51; the full stack (argmax+abstention+novelty) only 0.40 -- BELOW the tuned threshold (paired gap -0.11).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So the lever is the operating point, not the gates: stacking adds no net recall once the threshold is set to the budget. (Even so, about half of unknown R2L is still missed.)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Unknown (held-out) R2L at a matched review budget: argmax vs tuned threshold vs full stack.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Validating the fix: across budgets and a second corpus</a:t>
            </a:r>
          </a:p>
        </p:txBody>
      </p:sp>
      <p:pic>
        <p:nvPicPr>
          <p:cNvPr id="3" name="Picture 2" descr="p2_validatef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190536"/>
            <a:ext cx="7132320" cy="259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Is the re-baseline a one-point fluke? We sweep three review budgets (5/10/20%) and add a second corpus -- CIC-2018 Infiltration, the look-like-normal family there.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 abstention+novelty stack beats a budget-tuned threshold in just 1 of 6 budget x corpus cells (CIC at 5%, +0.015); it loses the other five, decisively on unknown R2L (e.g. -0.39 at 20%).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So at equal analyst cost the stack adds no recall a tuned threshold doesn't already give -- and we tune the stack FAVOURABLY, not as a strawman; a harder-tuned threshold only widens the gap. (Headline gap: seed-paired -0.11; bootstrap -0.06, 95% CI [-0.10, 0.00].)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Tuned threshold vs. the full stack at matched analyst budget, on unknown R2L and cross-corpus Infiltration.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Finding 6: calibration need is task-dependent; the blind spot recurs (3 datasets)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CIC-IDS-2017: the within-day task is easy and already well-calibrated (accuracy ~1.0, calibration error ~0.0001) -- over-confidence is a property of the task, not a built-in flaw.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Drift (train one day, test another): Web detection 0.98 -&gt; 0.79, and abstaining catches 0.95 of unknown Web -- far more than R2L, because Web does not look like normal traffic.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CIC-IDS-2018 (third dataset): Infiltration is the canonical look-like-normal family and repeats the R2L signature exactly -- well-calibrated (error 0.006), yet missed at the default cut (recall 0.25) while its score is discriminative (AUROC 0.71) and a per-family threshold recovers 0.39.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Which confidence signal? Can we promise a hit-rate?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Comparing the signals fairly (same data, paired): the cheap top-probability is statistically tied with the fancier ones; the distance score is slightly better at ranking errors but worse at spotting unknown attacks.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So on this kind of tabular traffic data, plain confidence is a strong default -- the value is in the abstain framework, not the exact signal. (Classical signals only; energy/ODIN-style scores need a neural net we deliberately avoid.)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Conformal prediction's promised 90% hit-rate holds on training-like data (0.93) but falls to 0.61 once the traffic shifts -- the guarantee breaks exactly when deployment changes.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Discussion: a practical recipe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Pick a model whose confidence is informative (good at ranking its own errors — a tree-based model, not the linear one).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Choose how much to answer from the risk–coverage curve; send the refused cases to a human or a backup check.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Watch the abstain rate as a cheap, label-free warning that the traffic is drifting.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Add a normal-only novelty check for the look-like-normal attacks abstaining cannot catch.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Conclusions and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Detectors are over-confident under NSL-KDD's shift and not fixable by post-hoc calibration, yet well-calibrated on two modern datasets -- calibration need is task-dependent.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The second failure recurs on all three datasets but is an operating-point one: a single global threshold misses minority look-like-normal families whose score is in fact discriminable -- so the much-cited 'detection collapse' is mostly a thresholding artifact.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Abstention lowers error where confidence ranks it; and simply tuning the operating point to the analyst budget recovers much of the look-like-normal traffic the argmax default hides -- a stacked novelty gate adds no further recall at matched cost.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Future: a full time-ordered evaluation, the label-corrected CIC-2017, and a shared NetFlow feature format for transfer across networks.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Selected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M. Tavallaee et al., “A detailed analysis of the KDD Cup 99 / NSL-KDD data set,” 2009.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C. Guo et al., “On calibration of modern neural networks,” 2017.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Y. Geifman and R. El-Yaniv, selective prediction / risk–coverage, 2017; El-Yaniv &amp; Wiener, 2010.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D. Hendrycks and K. Gimpel, max-softmax baseline for misclassification/OOD, 2017.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D. Arp et al., “Dos and Don'ts of machine learning in computer security,” 2022.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A. Angelopoulos and S. Bates, conformal prediction, 2023.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Appendix: uncertainty signals on NSL-KDD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AURC (lower is better): max-softmax 0.060, Mahalanobis 0.058, k-NN 0.068, RF disagreement 0.060.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Mahalanobis is marginally better at error-ranking but significantly worse at unknown-attack separation than max-softmax.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Split-conformal coverage: 0.93 in-distribution -&gt; 0.61 under the train–test shift (target 0.90).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All metrics: means over K seeds with 95% confidence intervals.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377440"/>
            <a:ext cx="0" cy="1371600"/>
          </a:xfrm>
        </p:spPr>
        <p:txBody>
          <a:bodyPr/>
          <a:lstStyle/>
          <a:p>
            <a:r>
              <a:rPr sz="4000" b="1">
                <a:solidFill>
                  <a:srgbClr val="1F3355"/>
                </a:solidFill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Questions?  ·  LOFO protocol and analysis code released for verification.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870</TotalTime>
  <Words>437</Words>
  <Application>Microsoft Office PowerPoint</Application>
  <PresentationFormat>Geniş ekran</PresentationFormat>
  <Paragraphs>41</Paragraphs>
  <Slides>11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6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11</vt:i4>
      </vt:variant>
    </vt:vector>
  </HeadingPairs>
  <TitlesOfParts>
    <vt:vector size="18" baseType="lpstr">
      <vt:lpstr>-apple-system</vt:lpstr>
      <vt:lpstr>Arial</vt:lpstr>
      <vt:lpstr>Calibri</vt:lpstr>
      <vt:lpstr>Calibri Light</vt:lpstr>
      <vt:lpstr>Times New Roman</vt:lpstr>
      <vt:lpstr>Wingdings</vt:lpstr>
      <vt:lpstr>Custom Design</vt:lpstr>
      <vt:lpstr>Sunum Kılavuzu</vt:lpstr>
      <vt:lpstr>UBMK’25</vt:lpstr>
      <vt:lpstr>Giriş</vt:lpstr>
      <vt:lpstr>Yöntem</vt:lpstr>
      <vt:lpstr>Modeller, Formüller ve Teknikler</vt:lpstr>
      <vt:lpstr>Deneysel Düzenek</vt:lpstr>
      <vt:lpstr>Bulgular ve Tartışma</vt:lpstr>
      <vt:lpstr>Sonuçlar and Gelecek Araştırmalar</vt:lpstr>
      <vt:lpstr>Kaynaklar</vt:lpstr>
      <vt:lpstr>Kaynaklar</vt:lpstr>
      <vt:lpstr>Ekler (Gerekli ise)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subject/>
  <dc:creator>ŞEREF SAĞIROĞLU</dc:creator>
  <cp:keywords/>
  <dc:description/>
  <cp:lastModifiedBy>yeni</cp:lastModifiedBy>
  <cp:revision>74</cp:revision>
  <dcterms:created xsi:type="dcterms:W3CDTF">2018-08-12T18:31:45Z</dcterms:created>
  <dcterms:modified xsi:type="dcterms:W3CDTF">2025-08-10T19:43:05Z</dcterms:modified>
  <cp:category/>
</cp:coreProperties>
</file>