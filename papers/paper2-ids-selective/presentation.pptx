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9" r:id="rId1"/>
  </p:sldMasterIdLst>
  <p:notesMasterIdLst>
    <p:notesMasterId r:id="rId13"/>
  </p:notesMasterIdLst>
  <p:sldIdLst>
    <p:sldId id="256" r:id="rId7"/>
    <p:sldId id="257" r:id="rId8"/>
    <p:sldId id="258" r:id="rId9"/>
    <p:sldId id="259" r:id="rId10"/>
    <p:sldId id="260" r:id="rId11"/>
    <p:sldId id="261" r:id="rId12"/>
    <p:sldId id="262" r:id="rId6"/>
    <p:sldId id="263" r:id="rId5"/>
    <p:sldId id="264" r:id="rId4"/>
    <p:sldId id="265" r:id="rId3"/>
    <p:sldId id="266" r:id="rId2"/>
    <p:sldId id="267" r:id="rId18"/>
    <p:sldId id="268" r:id="rId19"/>
    <p:sldId id="269" r:id="rId20"/>
    <p:sldId id="270" r:id="rId21"/>
    <p:sldId id="271" r:id="rId22"/>
    <p:sldId id="272" r:id="rId23"/>
    <p:sldId id="273" r:id="rId24"/>
    <p:sldId id="274" r:id="rId25"/>
    <p:sldId id="275" r:id="rId26"/>
  </p:sldIdLst>
  <p:sldSz cx="12192000" cy="6858000"/>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588" autoAdjust="0"/>
    <p:restoredTop sz="94660"/>
  </p:normalViewPr>
  <p:slideViewPr>
    <p:cSldViewPr snapToGrid="0">
      <p:cViewPr varScale="1">
        <p:scale>
          <a:sx n="98" d="100"/>
          <a:sy n="98" d="100"/>
        </p:scale>
        <p:origin x="86" y="110"/>
      </p:cViewPr>
      <p:guideLst>
        <p:guide orient="horz" pos="2160"/>
        <p:guide pos="3840"/>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57" d="100"/>
          <a:sy n="57" d="100"/>
        </p:scale>
        <p:origin x="1896" y="84"/>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1.xml"/><Relationship Id="rId3" Type="http://schemas.openxmlformats.org/officeDocument/2006/relationships/slide" Target="slides/slide10.xml"/><Relationship Id="rId4" Type="http://schemas.openxmlformats.org/officeDocument/2006/relationships/slide" Target="slides/slide9.xml"/><Relationship Id="rId5" Type="http://schemas.openxmlformats.org/officeDocument/2006/relationships/slide" Target="slides/slide8.xml"/><Relationship Id="rId6" Type="http://schemas.openxmlformats.org/officeDocument/2006/relationships/slide" Target="slides/slide7.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bilgi Yer Tutucusu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tr-TR"/>
          </a:p>
        </p:txBody>
      </p:sp>
      <p:sp>
        <p:nvSpPr>
          <p:cNvPr id="3" name="Veri Yer Tutucusu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CF30E49-FAA3-4103-A19B-88A53BA86019}" type="datetimeFigureOut">
              <a:rPr lang="tr-TR" smtClean="0"/>
              <a:t>10.08.2025</a:t>
            </a:fld>
            <a:endParaRPr lang="tr-TR"/>
          </a:p>
        </p:txBody>
      </p:sp>
      <p:sp>
        <p:nvSpPr>
          <p:cNvPr id="4" name="Slayt Görüntüsü Yer Tutucus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tr-TR"/>
          </a:p>
        </p:txBody>
      </p:sp>
      <p:sp>
        <p:nvSpPr>
          <p:cNvPr id="5" name="Not Yer Tutucusu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6" name="Altbilgi Yer Tutucusu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tr-TR"/>
          </a:p>
        </p:txBody>
      </p:sp>
      <p:sp>
        <p:nvSpPr>
          <p:cNvPr id="7" name="Slayt Numarası Yer Tutucus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899D66C-2377-4C1A-B265-BC914AD7E508}" type="slidenum">
              <a:rPr lang="tr-TR" smtClean="0"/>
              <a:t>‹#›</a:t>
            </a:fld>
            <a:endParaRPr lang="tr-TR"/>
          </a:p>
        </p:txBody>
      </p:sp>
    </p:spTree>
    <p:extLst>
      <p:ext uri="{BB962C8B-B14F-4D97-AF65-F5344CB8AC3E}">
        <p14:creationId xmlns:p14="http://schemas.microsoft.com/office/powerpoint/2010/main" val="17088179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24481038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302018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Tree>
    <p:extLst>
      <p:ext uri="{BB962C8B-B14F-4D97-AF65-F5344CB8AC3E}">
        <p14:creationId xmlns:p14="http://schemas.microsoft.com/office/powerpoint/2010/main" val="4792972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317301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053610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9954726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9850962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35450258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38516943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633751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2302613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jpg"/><Relationship Id="rId14" Type="http://schemas.openxmlformats.org/officeDocument/2006/relationships/image" Target="../media/image2.png"/><Relationship Id="rId15" Type="http://schemas.openxmlformats.org/officeDocument/2006/relationships/image" Target="file:////var/folders/1s/pqdpz0ts7c57mk136n2fbt5r0000gn/T/com.microsoft.Word/WebArchiveCopyPasteTempFiles/logomain.png" TargetMode="External"/><Relationship Id="rId16"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F4E9C27-8E88-4EB3-A617-0E6C04A38702}" type="datetimeFigureOut">
              <a:rPr lang="en-US" smtClean="0"/>
              <a:t>8/10/2025</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8E5F23C-2349-4F07-85CE-C491D1B1E462}" type="slidenum">
              <a:rPr lang="en-US" smtClean="0"/>
              <a:t>‹#›</a:t>
            </a:fld>
            <a:endParaRPr lang="en-US"/>
          </a:p>
        </p:txBody>
      </p:sp>
      <p:sp>
        <p:nvSpPr>
          <p:cNvPr id="7" name="Dikdörtgen 3">
            <a:extLst>
              <a:ext uri="{FF2B5EF4-FFF2-40B4-BE49-F238E27FC236}">
                <a16:creationId xmlns:a16="http://schemas.microsoft.com/office/drawing/2014/main" id="{D239104A-9FE5-DF47-8BF3-027C1B59D68A}"/>
              </a:ext>
            </a:extLst>
          </p:cNvPr>
          <p:cNvSpPr/>
          <p:nvPr userDrawn="1"/>
        </p:nvSpPr>
        <p:spPr>
          <a:xfrm>
            <a:off x="838200" y="6118029"/>
            <a:ext cx="10515600" cy="738664"/>
          </a:xfrm>
          <a:prstGeom prst="rect">
            <a:avLst/>
          </a:prstGeom>
          <a:solidFill>
            <a:schemeClr val="accent3">
              <a:lumMod val="20000"/>
              <a:lumOff val="80000"/>
            </a:schemeClr>
          </a:solidFill>
        </p:spPr>
        <p:txBody>
          <a:bodyPr wrap="square">
            <a:spAutoFit/>
          </a:bodyPr>
          <a:lstStyle/>
          <a:p>
            <a:pPr algn="ctr"/>
            <a:r>
              <a:rPr lang="tr-TR" altLang="tr-TR" sz="1400" b="1" dirty="0">
                <a:solidFill>
                  <a:srgbClr val="0070C0"/>
                </a:solidFill>
                <a:latin typeface="Calibri" panose="020F0502020204030204" pitchFamily="34" charset="0"/>
                <a:ea typeface="Times New Roman" panose="02020603050405020304" pitchFamily="18" charset="0"/>
                <a:cs typeface="Times New Roman" panose="02020603050405020304" pitchFamily="18" charset="0"/>
              </a:rPr>
              <a:t>VI. INTERNATIONAL CONFERENCE ON COMPUTER SCIENCE AND ENGINEERING</a:t>
            </a:r>
            <a:r>
              <a:rPr lang="tr-TR" altLang="tr-TR" sz="1400" dirty="0">
                <a:solidFill>
                  <a:srgbClr val="0070C0"/>
                </a:solidFill>
                <a:latin typeface="Calibri" panose="020F0502020204030204" pitchFamily="34" charset="0"/>
                <a:ea typeface="Times New Roman" panose="02020603050405020304" pitchFamily="18" charset="0"/>
                <a:cs typeface="Times New Roman" panose="02020603050405020304" pitchFamily="18" charset="0"/>
              </a:rPr>
              <a:t> </a:t>
            </a:r>
            <a:r>
              <a:rPr lang="tr-TR" altLang="tr-TR" sz="1400" b="1" dirty="0">
                <a:solidFill>
                  <a:srgbClr val="0070C0"/>
                </a:solidFill>
                <a:latin typeface="Calibri" panose="020F0502020204030204" pitchFamily="34" charset="0"/>
                <a:ea typeface="Times New Roman" panose="02020603050405020304" pitchFamily="18" charset="0"/>
                <a:cs typeface="Times New Roman" panose="02020603050405020304" pitchFamily="18" charset="0"/>
              </a:rPr>
              <a:t>(UBMK 2021)</a:t>
            </a:r>
          </a:p>
          <a:p>
            <a:pPr algn="ctr"/>
            <a:r>
              <a:rPr lang="tr-TR" altLang="tr-TR" sz="1400" b="1" dirty="0">
                <a:solidFill>
                  <a:srgbClr val="0070C0"/>
                </a:solidFill>
                <a:latin typeface="Calibri" panose="020F0502020204030204" pitchFamily="34" charset="0"/>
                <a:ea typeface="Times New Roman" panose="02020603050405020304" pitchFamily="18" charset="0"/>
                <a:cs typeface="Times New Roman" panose="02020603050405020304" pitchFamily="18" charset="0"/>
              </a:rPr>
              <a:t> </a:t>
            </a:r>
          </a:p>
          <a:p>
            <a:pPr algn="ctr"/>
            <a:r>
              <a:rPr lang="tr-TR" sz="1400" b="1" dirty="0">
                <a:solidFill>
                  <a:srgbClr val="0070C0"/>
                </a:solidFill>
                <a:latin typeface="Calibri" panose="020F0502020204030204" pitchFamily="34" charset="0"/>
                <a:cs typeface="Times New Roman" panose="02020603050405020304" pitchFamily="18" charset="0"/>
              </a:rPr>
              <a:t>35. BİLGİSAYAR MÜHENDİSLİĞİ BÖLÜM BAŞKANLARI KURULU TOPLANTISI</a:t>
            </a:r>
          </a:p>
        </p:txBody>
      </p:sp>
      <p:pic>
        <p:nvPicPr>
          <p:cNvPr id="8" name="Resim 1">
            <a:extLst>
              <a:ext uri="{FF2B5EF4-FFF2-40B4-BE49-F238E27FC236}">
                <a16:creationId xmlns:a16="http://schemas.microsoft.com/office/drawing/2014/main" id="{F4B74CCD-8A14-AC40-8702-A9E8E312B979}"/>
              </a:ext>
            </a:extLst>
          </p:cNvPr>
          <p:cNvPicPr>
            <a:picLocks noChangeAspect="1" noChangeArrowheads="1"/>
          </p:cNvPicPr>
          <p:nvPr userDrawn="1"/>
        </p:nvPicPr>
        <p:blipFill>
          <a:blip r:embed="rId14" r:link="rId15" cstate="print">
            <a:extLst>
              <a:ext uri="{28A0092B-C50C-407E-A947-70E740481C1C}">
                <a14:useLocalDpi xmlns:a14="http://schemas.microsoft.com/office/drawing/2010/main" val="0"/>
              </a:ext>
            </a:extLst>
          </a:blip>
          <a:srcRect/>
          <a:stretch>
            <a:fillRect/>
          </a:stretch>
        </p:blipFill>
        <p:spPr bwMode="auto">
          <a:xfrm>
            <a:off x="0" y="6118413"/>
            <a:ext cx="2490692" cy="753482"/>
          </a:xfrm>
          <a:prstGeom prst="rect">
            <a:avLst/>
          </a:prstGeom>
          <a:solidFill>
            <a:srgbClr val="00B0F0"/>
          </a:solidFill>
        </p:spPr>
      </p:pic>
      <p:pic>
        <p:nvPicPr>
          <p:cNvPr id="9" name="Image12">
            <a:extLst>
              <a:ext uri="{FF2B5EF4-FFF2-40B4-BE49-F238E27FC236}">
                <a16:creationId xmlns:a16="http://schemas.microsoft.com/office/drawing/2014/main" id="{A2E5998E-A85A-F247-8940-926AE5B6623F}"/>
              </a:ext>
            </a:extLst>
          </p:cNvPr>
          <p:cNvPicPr>
            <a:picLocks noChangeAspect="1" noChangeArrowheads="1"/>
          </p:cNvPicPr>
          <p:nvPr userDrawn="1"/>
        </p:nvPicPr>
        <p:blipFill>
          <a:blip r:embed="rId16">
            <a:extLst>
              <a:ext uri="{28A0092B-C50C-407E-A947-70E740481C1C}">
                <a14:useLocalDpi xmlns:a14="http://schemas.microsoft.com/office/drawing/2010/main" val="0"/>
              </a:ext>
            </a:extLst>
          </a:blip>
          <a:srcRect/>
          <a:stretch>
            <a:fillRect/>
          </a:stretch>
        </p:blipFill>
        <p:spPr bwMode="auto">
          <a:xfrm>
            <a:off x="10182714" y="6118413"/>
            <a:ext cx="2009286" cy="753482"/>
          </a:xfrm>
          <a:prstGeom prst="rect">
            <a:avLst/>
          </a:prstGeom>
          <a:solidFill>
            <a:srgbClr val="FFC000"/>
          </a:solidFill>
        </p:spPr>
      </p:pic>
    </p:spTree>
    <p:extLst>
      <p:ext uri="{BB962C8B-B14F-4D97-AF65-F5344CB8AC3E}">
        <p14:creationId xmlns:p14="http://schemas.microsoft.com/office/powerpoint/2010/main" val="1904196748"/>
      </p:ext>
    </p:extLst>
  </p:cSld>
  <p:clrMap bg1="lt1" tx1="dk1" bg2="lt2" tx2="dk2" accent1="accent1" accent2="accent2" accent3="accent3" accent4="accent4" accent5="accent5" accent6="accent6" hlink="hlink" folHlink="folHlink"/>
  <p:sldLayoutIdLst>
    <p:sldLayoutId id="2147483750" r:id="rId1"/>
    <p:sldLayoutId id="2147483751" r:id="rId2"/>
    <p:sldLayoutId id="2147483752" r:id="rId3"/>
    <p:sldLayoutId id="2147483753" r:id="rId4"/>
    <p:sldLayoutId id="2147483754" r:id="rId5"/>
    <p:sldLayoutId id="2147483755" r:id="rId6"/>
    <p:sldLayoutId id="2147483756" r:id="rId7"/>
    <p:sldLayoutId id="2147483757" r:id="rId8"/>
    <p:sldLayoutId id="2147483758" r:id="rId9"/>
    <p:sldLayoutId id="2147483759" r:id="rId10"/>
    <p:sldLayoutId id="2147483760"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731520" y="2011680"/>
            <a:ext cx="10698480" cy="2011680"/>
          </a:xfrm>
        </p:spPr>
        <p:txBody>
          <a:bodyPr/>
          <a:lstStyle/>
          <a:p>
            <a:r>
              <a:rPr sz="3000" b="1">
                <a:solidFill>
                  <a:srgbClr val="1F4E6B"/>
                </a:solidFill>
              </a:rPr>
              <a:t>Knowing When to Abstain: Calibration and Selective Prediction for ML Network Intrusion Detection</a:t>
            </a:r>
          </a:p>
        </p:txBody>
      </p:sp>
      <p:sp>
        <p:nvSpPr>
          <p:cNvPr id="3" name="TextBox 2"/>
          <p:cNvSpPr txBox="1"/>
          <p:nvPr/>
        </p:nvSpPr>
        <p:spPr>
          <a:xfrm>
            <a:off x="731520" y="4206240"/>
            <a:ext cx="10698480" cy="1828800"/>
          </a:xfrm>
          <a:prstGeom prst="rect">
            <a:avLst/>
          </a:prstGeom>
          <a:noFill/>
        </p:spPr>
        <p:txBody>
          <a:bodyPr wrap="square">
            <a:normAutofit/>
          </a:bodyPr>
          <a:lstStyle/>
          <a:p>
            <a:pPr algn="ctr">
              <a:spcAft>
                <a:spcPts val="400"/>
              </a:spcAft>
            </a:pPr>
            <a:r>
              <a:rPr sz="1800">
                <a:solidFill>
                  <a:srgbClr val="1F4E6B"/>
                </a:solidFill>
              </a:rPr>
              <a:t>The much-cited 'detection collapse' on unknown attacks is mostly a thresholding artifact</a:t>
            </a:r>
          </a:p>
          <a:p>
            <a:pPr algn="ctr">
              <a:spcAft>
                <a:spcPts val="400"/>
              </a:spcAft>
            </a:pPr>
            <a:r>
              <a:rPr sz="1800">
                <a:solidFill>
                  <a:srgbClr val="1F4E6B"/>
                </a:solidFill>
              </a:rPr>
              <a:t>UBMK’25 · International Conference on Computer Science and Engineering</a:t>
            </a:r>
          </a:p>
          <a:p>
            <a:pPr algn="ctr">
              <a:spcAft>
                <a:spcPts val="400"/>
              </a:spcAft>
            </a:pPr>
            <a:r>
              <a:rPr sz="1800">
                <a:solidFill>
                  <a:srgbClr val="1F4E6B"/>
                </a:solidFill>
              </a:rPr>
              <a:t>Track: Computer and Data Security</a:t>
            </a:r>
          </a:p>
          <a:p>
            <a:pPr algn="ctr">
              <a:spcAft>
                <a:spcPts val="400"/>
              </a:spcAft>
            </a:pPr>
            <a:r>
              <a:rPr sz="1800">
                <a:solidFill>
                  <a:srgbClr val="1F4E6B"/>
                </a:solidFill>
              </a:rPr>
              <a:t>Author(s) and affiliation withheld for review</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solidFill>
                  <a:srgbClr val="1F4E6B"/>
                </a:solidFill>
              </a:rPr>
              <a:t>Introduction: detectors that fail silently</a:t>
            </a:r>
          </a:p>
        </p:txBody>
      </p:sp>
      <p:pic>
        <p:nvPicPr>
          <p:cNvPr id="3" name="Picture 2" descr="p2_pipeline.png"/>
          <p:cNvPicPr>
            <a:picLocks noChangeAspect="1"/>
          </p:cNvPicPr>
          <p:nvPr/>
        </p:nvPicPr>
        <p:blipFill>
          <a:blip r:embed="rId2"/>
          <a:stretch>
            <a:fillRect/>
          </a:stretch>
        </p:blipFill>
        <p:spPr>
          <a:xfrm>
            <a:off x="320040" y="2371760"/>
            <a:ext cx="7370064" cy="2233352"/>
          </a:xfrm>
          <a:prstGeom prst="rect">
            <a:avLst/>
          </a:prstGeom>
        </p:spPr>
      </p:pic>
      <p:sp>
        <p:nvSpPr>
          <p:cNvPr id="4" name="TextBox 3"/>
          <p:cNvSpPr txBox="1"/>
          <p:nvPr/>
        </p:nvSpPr>
        <p:spPr>
          <a:xfrm>
            <a:off x="7735824" y="1600200"/>
            <a:ext cx="4425696" cy="4206240"/>
          </a:xfrm>
          <a:prstGeom prst="rect">
            <a:avLst/>
          </a:prstGeom>
          <a:noFill/>
        </p:spPr>
        <p:txBody>
          <a:bodyPr wrap="square">
            <a:normAutofit/>
          </a:bodyPr>
          <a:lstStyle/>
          <a:p>
            <a:pPr algn="l">
              <a:spcAft>
                <a:spcPts val="400"/>
              </a:spcAft>
            </a:pPr>
            <a:r>
              <a:rPr sz="1600">
                <a:solidFill>
                  <a:srgbClr val="1F4E6B"/>
                </a:solidFill>
              </a:rPr>
              <a:t>A detector that outputs a single hard label (“attack” or “normal”) gives no signal of when to trust it, and stays silent on attacks it never saw in training.</a:t>
            </a:r>
          </a:p>
          <a:p>
            <a:pPr algn="l">
              <a:spcAft>
                <a:spcPts val="400"/>
              </a:spcAft>
            </a:pPr>
            <a:r>
              <a:rPr sz="1600">
                <a:solidFill>
                  <a:srgbClr val="1F4E6B"/>
                </a:solidFill>
              </a:rPr>
              <a:t>Why it matters: a missed novel attack reaches production before any analyst reviews it, exactly the case a single hard label handles worst.</a:t>
            </a:r>
          </a:p>
          <a:p>
            <a:pPr algn="l">
              <a:spcAft>
                <a:spcPts val="400"/>
              </a:spcAft>
            </a:pPr>
            <a:r>
              <a:rPr sz="1600">
                <a:solidFill>
                  <a:srgbClr val="1F4E6B"/>
                </a:solidFill>
              </a:rPr>
              <a:t>Better: let it abstain, say “I’m not sure” on low-confidence inputs and pass them to an analyst or a backup check. This is called selective prediction.</a:t>
            </a:r>
          </a:p>
          <a:p>
            <a:pPr algn="l">
              <a:spcAft>
                <a:spcPts val="400"/>
              </a:spcAft>
            </a:pPr>
            <a:r>
              <a:rPr sz="1600">
                <a:solidFill>
                  <a:srgbClr val="1F4E6B"/>
                </a:solidFill>
              </a:rPr>
              <a:t>Question: do ordinary, off-the-shelf detectors know when they are wrong?</a:t>
            </a:r>
          </a:p>
          <a:p>
            <a:pPr lvl="1" algn="l">
              <a:spcAft>
                <a:spcPts val="400"/>
              </a:spcAft>
            </a:pPr>
            <a:r>
              <a:rPr sz="1400">
                <a:solidFill>
                  <a:srgbClr val="6B7079"/>
                </a:solidFill>
              </a:rPr>
              <a:t>We propose no new detector; we test the ones people already use.</a:t>
            </a:r>
          </a:p>
        </p:txBody>
      </p:sp>
      <p:sp>
        <p:nvSpPr>
          <p:cNvPr id="5" name="TextBox 4"/>
          <p:cNvSpPr txBox="1"/>
          <p:nvPr/>
        </p:nvSpPr>
        <p:spPr>
          <a:xfrm>
            <a:off x="320040" y="5513832"/>
            <a:ext cx="7370064" cy="365760"/>
          </a:xfrm>
          <a:prstGeom prst="rect">
            <a:avLst/>
          </a:prstGeom>
          <a:noFill/>
        </p:spPr>
        <p:txBody>
          <a:bodyPr wrap="none">
            <a:spAutoFit/>
          </a:bodyPr>
          <a:lstStyle/>
          <a:p>
            <a:pPr algn="ctr"/>
            <a:r>
              <a:rPr sz="1200" i="1">
                <a:solidFill>
                  <a:srgbClr val="6B7079"/>
                </a:solidFill>
              </a:rPr>
              <a:t>The selective-prediction (“reject-option”) wrapper we evaluate.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solidFill>
                  <a:srgbClr val="1F4E6B"/>
                </a:solidFill>
              </a:rPr>
              <a:t>Contributions: a dissociation between two failure modes</a:t>
            </a:r>
          </a:p>
        </p:txBody>
      </p:sp>
      <p:sp>
        <p:nvSpPr>
          <p:cNvPr id="3" name="Content Placeholder 2"/>
          <p:cNvSpPr>
            <a:spLocks noGrp="1"/>
          </p:cNvSpPr>
          <p:nvPr>
            <p:ph idx="1"/>
          </p:nvPr>
        </p:nvSpPr>
        <p:spPr>
          <a:xfrm>
            <a:off x="640080" y="1783080"/>
            <a:ext cx="10927080" cy="4114800"/>
          </a:xfrm>
        </p:spPr>
        <p:txBody>
          <a:bodyPr wrap="square">
            <a:normAutofit/>
          </a:bodyPr>
          <a:lstStyle/>
          <a:p>
            <a:pPr>
              <a:spcAft>
                <a:spcPts val="400"/>
              </a:spcAft>
            </a:pPr>
            <a:r>
              <a:rPr sz="1800">
                <a:solidFill>
                  <a:srgbClr val="1F4E6B"/>
                </a:solidFill>
              </a:rPr>
              <a:t>Over-confidence is task-dependent: detectors are badly miscalibrated under NSL-KDD's shift and NO post-hoc fix (Platt, isotonic, or temperature scaling) transfers, yet on two modern flow datasets the same task is well calibrated.</a:t>
            </a:r>
          </a:p>
          <a:p>
            <a:pPr>
              <a:spcAft>
                <a:spcPts val="400"/>
              </a:spcAft>
            </a:pPr>
            <a:r>
              <a:rPr sz="1800">
                <a:solidFill>
                  <a:srgbClr val="1F4E6B"/>
                </a:solidFill>
              </a:rPr>
              <a:t>The benign-mimicry blind spot is an operating-point failure, not a representational one, and it recurs across all three datasets. R2L is nearly missed at the default threshold (recall 0.06) yet its score is discriminative (AUROC 0.87); a per-family threshold recovers much of it (0.49). Class balancing does not help, so the cause is the threshold, not class frequency.</a:t>
            </a:r>
          </a:p>
          <a:p>
            <a:pPr>
              <a:spcAft>
                <a:spcPts val="400"/>
              </a:spcAft>
            </a:pPr>
            <a:r>
              <a:rPr sz="1800">
                <a:solidFill>
                  <a:srgbClr val="1F4E6B"/>
                </a:solidFill>
              </a:rPr>
              <a:t>Selective prediction is useful but bounded: it helps only when confidence ranks errors; and on the benign-mimicking blind spot the lever is the OPERATING POINT: a budget-tuned threshold recovers most of what argmax misses, while stacking abstention+novelty adds no gain at matched cost.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solidFill>
                  <a:srgbClr val="1F4E6B"/>
                </a:solidFill>
              </a:rPr>
              <a:t>Method</a:t>
            </a:r>
          </a:p>
        </p:txBody>
      </p:sp>
      <p:sp>
        <p:nvSpPr>
          <p:cNvPr id="3" name="Content Placeholder 2"/>
          <p:cNvSpPr>
            <a:spLocks noGrp="1"/>
          </p:cNvSpPr>
          <p:nvPr>
            <p:ph idx="1"/>
          </p:nvPr>
        </p:nvSpPr>
        <p:spPr>
          <a:xfrm>
            <a:off x="640080" y="1783080"/>
            <a:ext cx="10927080" cy="4114800"/>
          </a:xfrm>
        </p:spPr>
        <p:txBody>
          <a:bodyPr wrap="square">
            <a:normAutofit/>
          </a:bodyPr>
          <a:lstStyle/>
          <a:p>
            <a:pPr>
              <a:spcAft>
                <a:spcPts val="400"/>
              </a:spcAft>
            </a:pPr>
            <a:r>
              <a:rPr sz="1800">
                <a:solidFill>
                  <a:srgbClr val="1F4E6B"/>
                </a:solidFill>
              </a:rPr>
              <a:t>Calibration: does a model's stated confidence match how often it is right? We measure the gap with expected calibration error (ECE), and the Brier score, a proper scoring rule, agrees, then try three standard fixes (Platt, isotonic, and temperature scaling), each fit only on held-out training data so no test information leaks in.</a:t>
            </a:r>
          </a:p>
          <a:p>
            <a:pPr>
              <a:spcAft>
                <a:spcPts val="400"/>
              </a:spcAft>
            </a:pPr>
            <a:r>
              <a:rPr sz="1800">
                <a:solidFill>
                  <a:srgbClr val="1F4E6B"/>
                </a:solidFill>
              </a:rPr>
              <a:t>Selective prediction: confidence = the model's top class probability. The risk-coverage curve plots error against the fraction answered; the area under it (AURC) summarizes it (lower is better).</a:t>
            </a:r>
          </a:p>
          <a:p>
            <a:pPr>
              <a:spcAft>
                <a:spcPts val="400"/>
              </a:spcAft>
            </a:pPr>
            <a:r>
              <a:rPr sz="1800">
                <a:solidFill>
                  <a:srgbClr val="1F4E6B"/>
                </a:solidFill>
              </a:rPr>
              <a:t>Open-set (LOFO): drop one attack family from training, retrain, and measure detection on the unseen family. To separate a threshold artifact from true indistinguishability we also report threshold-free per-family detection AUROC.</a:t>
            </a:r>
          </a:p>
          <a:p>
            <a:pPr>
              <a:spcAft>
                <a:spcPts val="400"/>
              </a:spcAft>
            </a:pPr>
            <a:r>
              <a:rPr sz="1800">
                <a:solidFill>
                  <a:srgbClr val="1F4E6B"/>
                </a:solidFill>
              </a:rPr>
              <a:t>Honesty checks: a bootstrap over the (fixed) test set (the seed-only intervals understate uncertainty about 5x) and conformal prediction, which promises a hit-rate as long as new data looks like the old.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solidFill>
                  <a:srgbClr val="1F4E6B"/>
                </a:solidFill>
              </a:rPr>
              <a:t>Models, confidence signals, and novelty detectors</a:t>
            </a:r>
          </a:p>
        </p:txBody>
      </p:sp>
      <p:sp>
        <p:nvSpPr>
          <p:cNvPr id="3" name="Content Placeholder 2"/>
          <p:cNvSpPr>
            <a:spLocks noGrp="1"/>
          </p:cNvSpPr>
          <p:nvPr>
            <p:ph idx="1"/>
          </p:nvPr>
        </p:nvSpPr>
        <p:spPr>
          <a:xfrm>
            <a:off x="640080" y="1783080"/>
            <a:ext cx="10927080" cy="4114800"/>
          </a:xfrm>
        </p:spPr>
        <p:txBody>
          <a:bodyPr wrap="square">
            <a:normAutofit/>
          </a:bodyPr>
          <a:lstStyle/>
          <a:p>
            <a:pPr>
              <a:spcAft>
                <a:spcPts val="400"/>
              </a:spcAft>
            </a:pPr>
            <a:r>
              <a:rPr sz="1800">
                <a:solidFill>
                  <a:srgbClr val="1F4E6B"/>
                </a:solidFill>
              </a:rPr>
              <a:t>Detectors: logistic regression (a simple linear model), a random forest, and gradient boosting (both built from many decision trees), deliberately ordinary; the subject is their confidence, not the architecture.</a:t>
            </a:r>
          </a:p>
          <a:p>
            <a:pPr lvl="1">
              <a:spcAft>
                <a:spcPts val="400"/>
              </a:spcAft>
            </a:pPr>
            <a:r>
              <a:rPr sz="1600">
                <a:solidFill>
                  <a:srgbClr val="6B7079"/>
                </a:solidFill>
              </a:rPr>
              <a:t>A neural MLP is added as a supplementary fourth family in the model summary, to check the confidence-ranking finding generalizes beyond trees and the linear model.</a:t>
            </a:r>
          </a:p>
          <a:p>
            <a:pPr>
              <a:spcAft>
                <a:spcPts val="400"/>
              </a:spcAft>
            </a:pPr>
            <a:r>
              <a:rPr sz="1800">
                <a:solidFill>
                  <a:srgbClr val="1F4E6B"/>
                </a:solidFill>
              </a:rPr>
              <a:t>Confidence signals compared: the top class probability (max-softmax), how much the forest’s trees disagree, and two “distance-from-normal” scores (Mahalanobis and nearest-neighbour).</a:t>
            </a:r>
          </a:p>
          <a:p>
            <a:pPr>
              <a:spcAft>
                <a:spcPts val="400"/>
              </a:spcAft>
            </a:pPr>
            <a:r>
              <a:rPr sz="1800">
                <a:solidFill>
                  <a:srgbClr val="1F4E6B"/>
                </a:solidFill>
              </a:rPr>
              <a:t>Novelty detectors, trained only on normal traffic to flag anything unusual: Isolation Forest and a one-class SVM.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solidFill>
                  <a:srgbClr val="1F4E6B"/>
                </a:solidFill>
              </a:rPr>
              <a:t>Experimental setup: datasets</a:t>
            </a:r>
          </a:p>
        </p:txBody>
      </p:sp>
      <p:sp>
        <p:nvSpPr>
          <p:cNvPr id="3" name="Content Placeholder 2"/>
          <p:cNvSpPr>
            <a:spLocks noGrp="1"/>
          </p:cNvSpPr>
          <p:nvPr>
            <p:ph idx="1"/>
          </p:nvPr>
        </p:nvSpPr>
        <p:spPr>
          <a:xfrm>
            <a:off x="640080" y="1783080"/>
            <a:ext cx="10927080" cy="4114800"/>
          </a:xfrm>
        </p:spPr>
        <p:txBody>
          <a:bodyPr wrap="square">
            <a:normAutofit/>
          </a:bodyPr>
          <a:lstStyle/>
          <a:p>
            <a:pPr>
              <a:spcAft>
                <a:spcPts val="400"/>
              </a:spcAft>
            </a:pPr>
            <a:r>
              <a:rPr sz="1800">
                <a:solidFill>
                  <a:srgbClr val="1F4E6B"/>
                </a:solidFill>
              </a:rPr>
              <a:t>NSL-KDD: a public benchmark of network connections (~126k train / 22.5k test, 41 measured features each); attacks fall into four families: DoS (denial of service), Probe (network scanning), R2L (remote-to-local intrusion), and U2R (user-to-root escalation). Its test set deliberately includes attack types missing from training, a built-in unknown-attack test.</a:t>
            </a:r>
          </a:p>
          <a:p>
            <a:pPr>
              <a:spcAft>
                <a:spcPts val="400"/>
              </a:spcAft>
            </a:pPr>
            <a:r>
              <a:rPr sz="1800">
                <a:solidFill>
                  <a:srgbClr val="1F4E6B"/>
                </a:solidFill>
              </a:rPr>
              <a:t>CIC-IDS-2017: a newer dataset of network “flows” (per-connection summaries, 78 features), over three days (DDoS, PortScan, Web attacks).</a:t>
            </a:r>
          </a:p>
          <a:p>
            <a:pPr>
              <a:spcAft>
                <a:spcPts val="400"/>
              </a:spcAft>
            </a:pPr>
            <a:r>
              <a:rPr sz="1800">
                <a:solidFill>
                  <a:srgbClr val="1F4E6B"/>
                </a:solidFill>
              </a:rPr>
              <a:t>CSE-CIC-IDS-2018: a different network and year, used to test transfer on the 27 features the two datasets share by name.</a:t>
            </a:r>
          </a:p>
          <a:p>
            <a:pPr>
              <a:spcAft>
                <a:spcPts val="400"/>
              </a:spcAft>
            </a:pPr>
            <a:r>
              <a:rPr sz="1800">
                <a:solidFill>
                  <a:srgbClr val="1F4E6B"/>
                </a:solidFill>
              </a:rPr>
              <a:t>Each result averages many random repeats; the official test sets are kept fixed.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solidFill>
                  <a:srgbClr val="1F4E6B"/>
                </a:solidFill>
              </a:rPr>
              <a:t>Finding 1: the blind spot is a threshold failure, not indistinguishability</a:t>
            </a:r>
          </a:p>
        </p:txBody>
      </p:sp>
      <p:pic>
        <p:nvPicPr>
          <p:cNvPr id="3" name="Picture 2" descr="p2_perfamily_auroc.png"/>
          <p:cNvPicPr>
            <a:picLocks noChangeAspect="1"/>
          </p:cNvPicPr>
          <p:nvPr/>
        </p:nvPicPr>
        <p:blipFill>
          <a:blip r:embed="rId2"/>
          <a:stretch>
            <a:fillRect/>
          </a:stretch>
        </p:blipFill>
        <p:spPr>
          <a:xfrm>
            <a:off x="1038370" y="1463040"/>
            <a:ext cx="5695659" cy="4050792"/>
          </a:xfrm>
          <a:prstGeom prst="rect">
            <a:avLst/>
          </a:prstGeom>
        </p:spPr>
      </p:pic>
      <p:sp>
        <p:nvSpPr>
          <p:cNvPr id="4" name="TextBox 3"/>
          <p:cNvSpPr txBox="1"/>
          <p:nvPr/>
        </p:nvSpPr>
        <p:spPr>
          <a:xfrm>
            <a:off x="7498080" y="1600200"/>
            <a:ext cx="4663440" cy="4206240"/>
          </a:xfrm>
          <a:prstGeom prst="rect">
            <a:avLst/>
          </a:prstGeom>
          <a:noFill/>
        </p:spPr>
        <p:txBody>
          <a:bodyPr wrap="square">
            <a:normAutofit/>
          </a:bodyPr>
          <a:lstStyle/>
          <a:p>
            <a:pPr algn="l">
              <a:spcAft>
                <a:spcPts val="400"/>
              </a:spcAft>
            </a:pPr>
            <a:r>
              <a:rPr sz="1600">
                <a:solidFill>
                  <a:srgbClr val="1F4E6B"/>
                </a:solidFill>
              </a:rPr>
              <a:t>The most attackable reading ('R2L is just an unbalanced classifier at the default cut') is wrong about the cause. The attack score separates R2L from normal well above chance (AUROC 0.87 seen, 0.80 unknown).</a:t>
            </a:r>
          </a:p>
          <a:p>
            <a:pPr algn="l">
              <a:spcAft>
                <a:spcPts val="400"/>
              </a:spcAft>
            </a:pPr>
            <a:r>
              <a:rPr sz="1600">
                <a:solidFill>
                  <a:srgbClr val="1F4E6B"/>
                </a:solidFill>
              </a:rPr>
              <a:t>At the global default threshold only 0.06 of R2L is flagged; class-balancing barely moves it (0.06); a per-family threshold recovers 0.49. So a single global operating point fails a minority, look-like-normal family.</a:t>
            </a:r>
          </a:p>
          <a:p>
            <a:pPr algn="l">
              <a:spcAft>
                <a:spcPts val="400"/>
              </a:spcAft>
            </a:pPr>
            <a:r>
              <a:rPr sz="1600">
                <a:solidFill>
                  <a:srgbClr val="1F4E6B"/>
                </a:solidFill>
              </a:rPr>
              <a:t>Threshold-free, holding a family out of training costs little AUROC (DoS -0.06, R2L -0.07), so the dramatic 'detection collapse' on unknown families is largely a thresholding artifact.</a:t>
            </a:r>
          </a:p>
        </p:txBody>
      </p:sp>
      <p:sp>
        <p:nvSpPr>
          <p:cNvPr id="5" name="TextBox 4"/>
          <p:cNvSpPr txBox="1"/>
          <p:nvPr/>
        </p:nvSpPr>
        <p:spPr>
          <a:xfrm>
            <a:off x="320040" y="5513832"/>
            <a:ext cx="7132320" cy="365760"/>
          </a:xfrm>
          <a:prstGeom prst="rect">
            <a:avLst/>
          </a:prstGeom>
          <a:noFill/>
        </p:spPr>
        <p:txBody>
          <a:bodyPr wrap="none">
            <a:spAutoFit/>
          </a:bodyPr>
          <a:lstStyle/>
          <a:p>
            <a:pPr algn="ctr"/>
            <a:r>
              <a:rPr sz="1200" i="1">
                <a:solidFill>
                  <a:srgbClr val="6B7079"/>
                </a:solidFill>
              </a:rPr>
              <a:t>Per-family detection AUROC (threshold-free), family seen vs. held out of training.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solidFill>
                  <a:srgbClr val="1F4E6B"/>
                </a:solidFill>
              </a:rPr>
              <a:t>Finding 2: over-confident under shift, and no calibrator fixes it</a:t>
            </a:r>
          </a:p>
        </p:txBody>
      </p:sp>
      <p:pic>
        <p:nvPicPr>
          <p:cNvPr id="3" name="Picture 2" descr="p2_calibration_methods.png"/>
          <p:cNvPicPr>
            <a:picLocks noChangeAspect="1"/>
          </p:cNvPicPr>
          <p:nvPr/>
        </p:nvPicPr>
        <p:blipFill>
          <a:blip r:embed="rId2"/>
          <a:stretch>
            <a:fillRect/>
          </a:stretch>
        </p:blipFill>
        <p:spPr>
          <a:xfrm>
            <a:off x="727668" y="1463040"/>
            <a:ext cx="6317064" cy="4050792"/>
          </a:xfrm>
          <a:prstGeom prst="rect">
            <a:avLst/>
          </a:prstGeom>
        </p:spPr>
      </p:pic>
      <p:sp>
        <p:nvSpPr>
          <p:cNvPr id="4" name="TextBox 3"/>
          <p:cNvSpPr txBox="1"/>
          <p:nvPr/>
        </p:nvSpPr>
        <p:spPr>
          <a:xfrm>
            <a:off x="7498080" y="1600200"/>
            <a:ext cx="4663440" cy="4206240"/>
          </a:xfrm>
          <a:prstGeom prst="rect">
            <a:avLst/>
          </a:prstGeom>
          <a:noFill/>
        </p:spPr>
        <p:txBody>
          <a:bodyPr wrap="square">
            <a:normAutofit/>
          </a:bodyPr>
          <a:lstStyle/>
          <a:p>
            <a:pPr algn="l">
              <a:spcAft>
                <a:spcPts val="400"/>
              </a:spcAft>
            </a:pPr>
            <a:r>
              <a:rPr sz="1600">
                <a:solidFill>
                  <a:srgbClr val="1F4E6B"/>
                </a:solidFill>
              </a:rPr>
              <a:t>On data like the training set the models are nearly perfectly calibrated (error below 0.01); on the real shifted test set it jumps to about 0.16-0.22.</a:t>
            </a:r>
          </a:p>
          <a:p>
            <a:pPr algn="l">
              <a:spcAft>
                <a:spcPts val="400"/>
              </a:spcAft>
            </a:pPr>
            <a:r>
              <a:rPr sz="1600">
                <a:solidFill>
                  <a:srgbClr val="1F4E6B"/>
                </a:solidFill>
              </a:rPr>
              <a:t>No post-hoc fix removes it: Platt, isotonic, and temperature scaling all stay high (every marker clusters at the top), each is fit on the source distribution.</a:t>
            </a:r>
          </a:p>
          <a:p>
            <a:pPr algn="l">
              <a:spcAft>
                <a:spcPts val="400"/>
              </a:spcAft>
            </a:pPr>
            <a:r>
              <a:rPr sz="1600">
                <a:solidFill>
                  <a:srgbClr val="1F4E6B"/>
                </a:solidFill>
              </a:rPr>
              <a:t>Source-calibrated probabilities do not certify the deployed distribution, which is why we turn to abstention (it needs only a usable confidence ranking).</a:t>
            </a:r>
          </a:p>
        </p:txBody>
      </p:sp>
      <p:sp>
        <p:nvSpPr>
          <p:cNvPr id="5" name="TextBox 4"/>
          <p:cNvSpPr txBox="1"/>
          <p:nvPr/>
        </p:nvSpPr>
        <p:spPr>
          <a:xfrm>
            <a:off x="320040" y="5513832"/>
            <a:ext cx="7132320" cy="365760"/>
          </a:xfrm>
          <a:prstGeom prst="rect">
            <a:avLst/>
          </a:prstGeom>
          <a:noFill/>
        </p:spPr>
        <p:txBody>
          <a:bodyPr wrap="none">
            <a:spAutoFit/>
          </a:bodyPr>
          <a:lstStyle/>
          <a:p>
            <a:pPr algn="ctr"/>
            <a:r>
              <a:rPr sz="1200" i="1">
                <a:solidFill>
                  <a:srgbClr val="6B7079"/>
                </a:solidFill>
              </a:rPr>
              <a:t>Calibration error on the shifted test set under four post-hoc calibrators (per model).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solidFill>
                  <a:srgbClr val="1F4E6B"/>
                </a:solidFill>
              </a:rPr>
              <a:t>Finding 3: abstaining helps, if confidence ranks errors</a:t>
            </a:r>
          </a:p>
        </p:txBody>
      </p:sp>
      <p:pic>
        <p:nvPicPr>
          <p:cNvPr id="3" name="Picture 2" descr="p2_risk_coverage.png"/>
          <p:cNvPicPr>
            <a:picLocks noChangeAspect="1"/>
          </p:cNvPicPr>
          <p:nvPr/>
        </p:nvPicPr>
        <p:blipFill>
          <a:blip r:embed="rId2"/>
          <a:stretch>
            <a:fillRect/>
          </a:stretch>
        </p:blipFill>
        <p:spPr>
          <a:xfrm>
            <a:off x="1173931" y="1463040"/>
            <a:ext cx="5424538" cy="4050792"/>
          </a:xfrm>
          <a:prstGeom prst="rect">
            <a:avLst/>
          </a:prstGeom>
        </p:spPr>
      </p:pic>
      <p:sp>
        <p:nvSpPr>
          <p:cNvPr id="4" name="TextBox 3"/>
          <p:cNvSpPr txBox="1"/>
          <p:nvPr/>
        </p:nvSpPr>
        <p:spPr>
          <a:xfrm>
            <a:off x="7498080" y="1600200"/>
            <a:ext cx="4663440" cy="4206240"/>
          </a:xfrm>
          <a:prstGeom prst="rect">
            <a:avLst/>
          </a:prstGeom>
          <a:noFill/>
        </p:spPr>
        <p:txBody>
          <a:bodyPr wrap="square">
            <a:normAutofit/>
          </a:bodyPr>
          <a:lstStyle/>
          <a:p>
            <a:pPr algn="l">
              <a:spcAft>
                <a:spcPts val="400"/>
              </a:spcAft>
            </a:pPr>
            <a:r>
              <a:rPr sz="1600">
                <a:solidFill>
                  <a:srgbClr val="1F4E6B"/>
                </a:solidFill>
              </a:rPr>
              <a:t>Tree-based models: refusing the least-confident 20% cuts error 0.20 -&gt; 0.11 (area under the curve ~ 0.05; lower is better).</a:t>
            </a:r>
          </a:p>
          <a:p>
            <a:pPr algn="l">
              <a:spcAft>
                <a:spcPts val="400"/>
              </a:spcAft>
            </a:pPr>
            <a:r>
              <a:rPr sz="1600">
                <a:solidFill>
                  <a:srgbClr val="1F4E6B"/>
                </a:solidFill>
              </a:rPr>
              <a:t>The linear model’s confidence barely ranks its mistakes (area ~ 0.23), so abstaining buys little.</a:t>
            </a:r>
          </a:p>
          <a:p>
            <a:pPr algn="l">
              <a:spcAft>
                <a:spcPts val="400"/>
              </a:spcAft>
            </a:pPr>
            <a:r>
              <a:rPr sz="1600">
                <a:solidFill>
                  <a:srgbClr val="1F4E6B"/>
                </a:solidFill>
              </a:rPr>
              <a:t>Abstaining is only as good as the confidence signal behind it.</a:t>
            </a:r>
          </a:p>
        </p:txBody>
      </p:sp>
      <p:sp>
        <p:nvSpPr>
          <p:cNvPr id="5" name="TextBox 4"/>
          <p:cNvSpPr txBox="1"/>
          <p:nvPr/>
        </p:nvSpPr>
        <p:spPr>
          <a:xfrm>
            <a:off x="320040" y="5513832"/>
            <a:ext cx="7132320" cy="365760"/>
          </a:xfrm>
          <a:prstGeom prst="rect">
            <a:avLst/>
          </a:prstGeom>
          <a:noFill/>
        </p:spPr>
        <p:txBody>
          <a:bodyPr wrap="none">
            <a:spAutoFit/>
          </a:bodyPr>
          <a:lstStyle/>
          <a:p>
            <a:pPr algn="ctr"/>
            <a:r>
              <a:rPr sz="1200" i="1">
                <a:solidFill>
                  <a:srgbClr val="6B7079"/>
                </a:solidFill>
              </a:rPr>
              <a:t>Error among answered cases vs. the fraction answered; ring = the 80%-answered point.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solidFill>
                  <a:srgbClr val="1F4E6B"/>
                </a:solidFill>
              </a:rPr>
              <a:t>Finding 4: why R2L is the blind spot</a:t>
            </a:r>
          </a:p>
        </p:txBody>
      </p:sp>
      <p:pic>
        <p:nvPicPr>
          <p:cNvPr id="3" name="Picture 2" descr="p2_benign_manifold.png"/>
          <p:cNvPicPr>
            <a:picLocks noChangeAspect="1"/>
          </p:cNvPicPr>
          <p:nvPr/>
        </p:nvPicPr>
        <p:blipFill>
          <a:blip r:embed="rId2"/>
          <a:stretch>
            <a:fillRect/>
          </a:stretch>
        </p:blipFill>
        <p:spPr>
          <a:xfrm>
            <a:off x="320040" y="1644885"/>
            <a:ext cx="7845552" cy="3687101"/>
          </a:xfrm>
          <a:prstGeom prst="rect">
            <a:avLst/>
          </a:prstGeom>
        </p:spPr>
      </p:pic>
      <p:sp>
        <p:nvSpPr>
          <p:cNvPr id="4" name="TextBox 3"/>
          <p:cNvSpPr txBox="1"/>
          <p:nvPr/>
        </p:nvSpPr>
        <p:spPr>
          <a:xfrm>
            <a:off x="8211312" y="1600200"/>
            <a:ext cx="3950208" cy="4206240"/>
          </a:xfrm>
          <a:prstGeom prst="rect">
            <a:avLst/>
          </a:prstGeom>
          <a:noFill/>
        </p:spPr>
        <p:txBody>
          <a:bodyPr wrap="square">
            <a:normAutofit/>
          </a:bodyPr>
          <a:lstStyle/>
          <a:p>
            <a:pPr algn="l">
              <a:spcAft>
                <a:spcPts val="400"/>
              </a:spcAft>
            </a:pPr>
            <a:r>
              <a:rPr sz="1600">
                <a:solidFill>
                  <a:srgbClr val="1F4E6B"/>
                </a:solidFill>
              </a:rPr>
              <a:t>R2L’s records pile up right on top of the normal ones, inside the “looks-normal” region, for both independent novelty detectors.</a:t>
            </a:r>
          </a:p>
          <a:p>
            <a:pPr algn="l">
              <a:spcAft>
                <a:spcPts val="400"/>
              </a:spcAft>
            </a:pPr>
            <a:r>
              <a:rPr sz="1600">
                <a:solidFill>
                  <a:srgbClr val="1F4E6B"/>
                </a:solidFill>
              </a:rPr>
              <a:t>It mimics ordinary traffic, so neither abstaining nor a normal-only novelty check can cleanly flag it; DoS, Probe, and U2R clearly stand out.</a:t>
            </a:r>
          </a:p>
        </p:txBody>
      </p:sp>
      <p:sp>
        <p:nvSpPr>
          <p:cNvPr id="5" name="TextBox 4"/>
          <p:cNvSpPr txBox="1"/>
          <p:nvPr/>
        </p:nvSpPr>
        <p:spPr>
          <a:xfrm>
            <a:off x="320040" y="5513832"/>
            <a:ext cx="7845552" cy="365760"/>
          </a:xfrm>
          <a:prstGeom prst="rect">
            <a:avLst/>
          </a:prstGeom>
          <a:noFill/>
        </p:spPr>
        <p:txBody>
          <a:bodyPr wrap="none">
            <a:spAutoFit/>
          </a:bodyPr>
          <a:lstStyle/>
          <a:p>
            <a:pPr algn="ctr"/>
            <a:r>
              <a:rPr sz="1200" i="1">
                <a:solidFill>
                  <a:srgbClr val="6B7079"/>
                </a:solidFill>
              </a:rPr>
              <a:t>(a) how unusual each record looks to two “normal-only” detectors; (b) the same, per family.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solidFill>
                  <a:srgbClr val="1F4E6B"/>
                </a:solidFill>
              </a:rPr>
              <a:t>Finding 5: a normal-only novelty stage partly closes the gap</a:t>
            </a:r>
          </a:p>
        </p:txBody>
      </p:sp>
      <p:pic>
        <p:nvPicPr>
          <p:cNvPr id="3" name="Picture 2" descr="p2_novelty_auroc.png"/>
          <p:cNvPicPr>
            <a:picLocks noChangeAspect="1"/>
          </p:cNvPicPr>
          <p:nvPr/>
        </p:nvPicPr>
        <p:blipFill>
          <a:blip r:embed="rId2"/>
          <a:stretch>
            <a:fillRect/>
          </a:stretch>
        </p:blipFill>
        <p:spPr>
          <a:xfrm>
            <a:off x="978422" y="1463040"/>
            <a:ext cx="5815555" cy="4050792"/>
          </a:xfrm>
          <a:prstGeom prst="rect">
            <a:avLst/>
          </a:prstGeom>
        </p:spPr>
      </p:pic>
      <p:sp>
        <p:nvSpPr>
          <p:cNvPr id="4" name="TextBox 3"/>
          <p:cNvSpPr txBox="1"/>
          <p:nvPr/>
        </p:nvSpPr>
        <p:spPr>
          <a:xfrm>
            <a:off x="7498080" y="1600200"/>
            <a:ext cx="4663440" cy="4206240"/>
          </a:xfrm>
          <a:prstGeom prst="rect">
            <a:avLst/>
          </a:prstGeom>
          <a:noFill/>
        </p:spPr>
        <p:txBody>
          <a:bodyPr wrap="square">
            <a:normAutofit/>
          </a:bodyPr>
          <a:lstStyle/>
          <a:p>
            <a:pPr algn="l">
              <a:spcAft>
                <a:spcPts val="400"/>
              </a:spcAft>
            </a:pPr>
            <a:r>
              <a:rPr sz="1600">
                <a:solidFill>
                  <a:srgbClr val="1F4E6B"/>
                </a:solidFill>
              </a:rPr>
              <a:t>Trained only on normal traffic, Isolation Forest / one-class SVM separate DoS, Probe, U2R well (score ~ 0.90–0.99).</a:t>
            </a:r>
          </a:p>
          <a:p>
            <a:pPr algn="l">
              <a:spcAft>
                <a:spcPts val="400"/>
              </a:spcAft>
            </a:pPr>
            <a:r>
              <a:rPr sz="1600">
                <a:solidFill>
                  <a:srgbClr val="1F4E6B"/>
                </a:solidFill>
              </a:rPr>
              <a:t>R2L stays hardest (~ 0.73–0.82), it overlaps normal traffic the most.</a:t>
            </a:r>
          </a:p>
          <a:p>
            <a:pPr algn="l">
              <a:spcAft>
                <a:spcPts val="400"/>
              </a:spcAft>
            </a:pPr>
            <a:r>
              <a:rPr sz="1600">
                <a:solidFill>
                  <a:srgbClr val="1F4E6B"/>
                </a:solidFill>
              </a:rPr>
              <a:t>Abstaining and novelty detection catch different failures, so use both.</a:t>
            </a:r>
          </a:p>
        </p:txBody>
      </p:sp>
      <p:sp>
        <p:nvSpPr>
          <p:cNvPr id="5" name="TextBox 4"/>
          <p:cNvSpPr txBox="1"/>
          <p:nvPr/>
        </p:nvSpPr>
        <p:spPr>
          <a:xfrm>
            <a:off x="320040" y="5513832"/>
            <a:ext cx="7132320" cy="365760"/>
          </a:xfrm>
          <a:prstGeom prst="rect">
            <a:avLst/>
          </a:prstGeom>
          <a:noFill/>
        </p:spPr>
        <p:txBody>
          <a:bodyPr wrap="none">
            <a:spAutoFit/>
          </a:bodyPr>
          <a:lstStyle/>
          <a:p>
            <a:pPr algn="ctr"/>
            <a:r>
              <a:rPr sz="1200" i="1">
                <a:solidFill>
                  <a:srgbClr val="6B7079"/>
                </a:solidFill>
              </a:rPr>
              <a:t>How well each attack family separates from normal traffic (1 = perfect, 0.5 = chance).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solidFill>
                  <a:srgbClr val="1F4E6B"/>
                </a:solidFill>
              </a:rPr>
              <a:t>The recipe, re-baselined honestly</a:t>
            </a:r>
          </a:p>
        </p:txBody>
      </p:sp>
      <p:pic>
        <p:nvPicPr>
          <p:cNvPr id="3" name="Picture 2" descr="p2_combined_pipeline.png"/>
          <p:cNvPicPr>
            <a:picLocks noChangeAspect="1"/>
          </p:cNvPicPr>
          <p:nvPr/>
        </p:nvPicPr>
        <p:blipFill>
          <a:blip r:embed="rId2"/>
          <a:stretch>
            <a:fillRect/>
          </a:stretch>
        </p:blipFill>
        <p:spPr>
          <a:xfrm>
            <a:off x="975979" y="1463040"/>
            <a:ext cx="5820441" cy="4050792"/>
          </a:xfrm>
          <a:prstGeom prst="rect">
            <a:avLst/>
          </a:prstGeom>
        </p:spPr>
      </p:pic>
      <p:sp>
        <p:nvSpPr>
          <p:cNvPr id="4" name="TextBox 3"/>
          <p:cNvSpPr txBox="1"/>
          <p:nvPr/>
        </p:nvSpPr>
        <p:spPr>
          <a:xfrm>
            <a:off x="7498080" y="1600200"/>
            <a:ext cx="4663440" cy="4206240"/>
          </a:xfrm>
          <a:prstGeom prst="rect">
            <a:avLst/>
          </a:prstGeom>
          <a:noFill/>
        </p:spPr>
        <p:txBody>
          <a:bodyPr wrap="square">
            <a:normAutofit/>
          </a:bodyPr>
          <a:lstStyle/>
          <a:p>
            <a:pPr algn="l">
              <a:spcAft>
                <a:spcPts val="400"/>
              </a:spcAft>
            </a:pPr>
            <a:r>
              <a:rPr sz="1600">
                <a:solidFill>
                  <a:srgbClr val="1F4E6B"/>
                </a:solidFill>
              </a:rPr>
              <a:t>The earlier 0.003 -&gt; 0.40 gain was measured against the argmax default, a bad threshold for a minority family. We re-baseline against a single threshold TUNED to the same review budget.</a:t>
            </a:r>
          </a:p>
          <a:p>
            <a:pPr algn="l">
              <a:spcAft>
                <a:spcPts val="400"/>
              </a:spcAft>
            </a:pPr>
            <a:r>
              <a:rPr sz="1600">
                <a:solidFill>
                  <a:srgbClr val="1F4E6B"/>
                </a:solidFill>
              </a:rPr>
              <a:t>At matched cost: argmax 0.00; a tuned threshold 0.51; the full stack (argmax+abstention+novelty) only 0.40, BELOW the tuned threshold (paired gap -0.11).</a:t>
            </a:r>
          </a:p>
          <a:p>
            <a:pPr algn="l">
              <a:spcAft>
                <a:spcPts val="400"/>
              </a:spcAft>
            </a:pPr>
            <a:r>
              <a:rPr sz="1600">
                <a:solidFill>
                  <a:srgbClr val="1F4E6B"/>
                </a:solidFill>
              </a:rPr>
              <a:t>So the lever is the operating point, not the gates: stacking adds no net recall once the threshold is set to the budget. (Even so, about half of unknown R2L is still missed.)</a:t>
            </a:r>
          </a:p>
        </p:txBody>
      </p:sp>
      <p:sp>
        <p:nvSpPr>
          <p:cNvPr id="5" name="TextBox 4"/>
          <p:cNvSpPr txBox="1"/>
          <p:nvPr/>
        </p:nvSpPr>
        <p:spPr>
          <a:xfrm>
            <a:off x="320040" y="5513832"/>
            <a:ext cx="7132320" cy="365760"/>
          </a:xfrm>
          <a:prstGeom prst="rect">
            <a:avLst/>
          </a:prstGeom>
          <a:noFill/>
        </p:spPr>
        <p:txBody>
          <a:bodyPr wrap="none">
            <a:spAutoFit/>
          </a:bodyPr>
          <a:lstStyle/>
          <a:p>
            <a:pPr algn="ctr"/>
            <a:r>
              <a:rPr sz="1200" i="1">
                <a:solidFill>
                  <a:srgbClr val="6B7079"/>
                </a:solidFill>
              </a:rPr>
              <a:t>Unknown (held-out) R2L at a matched review budget: argmax vs tuned threshold vs full stack.</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solidFill>
                  <a:srgbClr val="1F4E6B"/>
                </a:solidFill>
              </a:rPr>
              <a:t>Validating the fix: across budgets and a second corpus</a:t>
            </a:r>
          </a:p>
        </p:txBody>
      </p:sp>
      <p:pic>
        <p:nvPicPr>
          <p:cNvPr id="3" name="Picture 2" descr="p2_validatefix.png"/>
          <p:cNvPicPr>
            <a:picLocks noChangeAspect="1"/>
          </p:cNvPicPr>
          <p:nvPr/>
        </p:nvPicPr>
        <p:blipFill>
          <a:blip r:embed="rId2"/>
          <a:stretch>
            <a:fillRect/>
          </a:stretch>
        </p:blipFill>
        <p:spPr>
          <a:xfrm>
            <a:off x="320040" y="2190536"/>
            <a:ext cx="7132320" cy="2595800"/>
          </a:xfrm>
          <a:prstGeom prst="rect">
            <a:avLst/>
          </a:prstGeom>
        </p:spPr>
      </p:pic>
      <p:sp>
        <p:nvSpPr>
          <p:cNvPr id="4" name="TextBox 3"/>
          <p:cNvSpPr txBox="1"/>
          <p:nvPr/>
        </p:nvSpPr>
        <p:spPr>
          <a:xfrm>
            <a:off x="7498080" y="1600200"/>
            <a:ext cx="4663440" cy="4206240"/>
          </a:xfrm>
          <a:prstGeom prst="rect">
            <a:avLst/>
          </a:prstGeom>
          <a:noFill/>
        </p:spPr>
        <p:txBody>
          <a:bodyPr wrap="square">
            <a:normAutofit/>
          </a:bodyPr>
          <a:lstStyle/>
          <a:p>
            <a:pPr algn="l">
              <a:spcAft>
                <a:spcPts val="400"/>
              </a:spcAft>
            </a:pPr>
            <a:r>
              <a:rPr sz="1600">
                <a:solidFill>
                  <a:srgbClr val="1F4E6B"/>
                </a:solidFill>
              </a:rPr>
              <a:t>Is the re-baseline a one-point fluke? We sweep three review budgets (5/10/20%) and add a second corpus, CIC-2018 Infiltration, the look-like-normal family there.</a:t>
            </a:r>
          </a:p>
          <a:p>
            <a:pPr algn="l">
              <a:spcAft>
                <a:spcPts val="400"/>
              </a:spcAft>
            </a:pPr>
            <a:r>
              <a:rPr sz="1600">
                <a:solidFill>
                  <a:srgbClr val="1F4E6B"/>
                </a:solidFill>
              </a:rPr>
              <a:t>The abstention+novelty stack beats a budget-tuned threshold in just 1 of 6 budget x corpus cells (CIC at 5%, +0.015); it loses the other five, decisively on unknown R2L (e.g. -0.39 at 20%).</a:t>
            </a:r>
          </a:p>
          <a:p>
            <a:pPr algn="l">
              <a:spcAft>
                <a:spcPts val="400"/>
              </a:spcAft>
            </a:pPr>
            <a:r>
              <a:rPr sz="1600">
                <a:solidFill>
                  <a:srgbClr val="1F4E6B"/>
                </a:solidFill>
              </a:rPr>
              <a:t>So at equal analyst cost the stack adds no recall a tuned threshold doesn't already give, and we tune the stack FAVOURABLY, not as a strawman; a harder-tuned threshold only widens the gap. (Headline gap: seed-paired -0.11; bootstrap -0.06, 95% CI [-0.10, 0.00].)</a:t>
            </a:r>
          </a:p>
        </p:txBody>
      </p:sp>
      <p:sp>
        <p:nvSpPr>
          <p:cNvPr id="5" name="TextBox 4"/>
          <p:cNvSpPr txBox="1"/>
          <p:nvPr/>
        </p:nvSpPr>
        <p:spPr>
          <a:xfrm>
            <a:off x="320040" y="5513832"/>
            <a:ext cx="7132320" cy="365760"/>
          </a:xfrm>
          <a:prstGeom prst="rect">
            <a:avLst/>
          </a:prstGeom>
          <a:noFill/>
        </p:spPr>
        <p:txBody>
          <a:bodyPr wrap="none">
            <a:spAutoFit/>
          </a:bodyPr>
          <a:lstStyle/>
          <a:p>
            <a:pPr algn="ctr"/>
            <a:r>
              <a:rPr sz="1200" i="1">
                <a:solidFill>
                  <a:srgbClr val="6B7079"/>
                </a:solidFill>
              </a:rPr>
              <a:t>Tuned threshold vs. the full stack at matched analyst budget, on unknown R2L and cross-corpus Infiltration.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solidFill>
                  <a:srgbClr val="1F4E6B"/>
                </a:solidFill>
              </a:rPr>
              <a:t>Finding 6: calibration need is task-dependent; the blind spot recurs (3 datasets)</a:t>
            </a:r>
          </a:p>
        </p:txBody>
      </p:sp>
      <p:sp>
        <p:nvSpPr>
          <p:cNvPr id="3" name="Content Placeholder 2"/>
          <p:cNvSpPr>
            <a:spLocks noGrp="1"/>
          </p:cNvSpPr>
          <p:nvPr>
            <p:ph idx="1"/>
          </p:nvPr>
        </p:nvSpPr>
        <p:spPr>
          <a:xfrm>
            <a:off x="640080" y="1783080"/>
            <a:ext cx="10927080" cy="4114800"/>
          </a:xfrm>
        </p:spPr>
        <p:txBody>
          <a:bodyPr wrap="square">
            <a:normAutofit/>
          </a:bodyPr>
          <a:lstStyle/>
          <a:p>
            <a:pPr>
              <a:spcAft>
                <a:spcPts val="400"/>
              </a:spcAft>
            </a:pPr>
            <a:r>
              <a:rPr sz="1800">
                <a:solidFill>
                  <a:srgbClr val="1F4E6B"/>
                </a:solidFill>
              </a:rPr>
              <a:t>CIC-IDS-2017: the within-day task is easy and already well-calibrated (accuracy ~1.0, calibration error ~0.0001), over-confidence is a property of the task, not a built-in flaw.</a:t>
            </a:r>
          </a:p>
          <a:p>
            <a:pPr>
              <a:spcAft>
                <a:spcPts val="400"/>
              </a:spcAft>
            </a:pPr>
            <a:r>
              <a:rPr sz="1800">
                <a:solidFill>
                  <a:srgbClr val="1F4E6B"/>
                </a:solidFill>
              </a:rPr>
              <a:t>Drift (train one day, test another): Web detection 0.98 -&gt; 0.79, and abstaining catches 0.95 of unknown Web, far more than R2L, because Web does not look like normal traffic.</a:t>
            </a:r>
          </a:p>
          <a:p>
            <a:pPr>
              <a:spcAft>
                <a:spcPts val="400"/>
              </a:spcAft>
            </a:pPr>
            <a:r>
              <a:rPr sz="1800">
                <a:solidFill>
                  <a:srgbClr val="1F4E6B"/>
                </a:solidFill>
              </a:rPr>
              <a:t>CIC-IDS-2018 (third dataset): Infiltration is the canonical look-like-normal family and repeats the R2L signature exactly: well-calibrated (error 0.006), yet missed at the default cut (recall 0.25) while its score is discriminative (AUROC 0.71) and a per-family threshold recovers 0.39.</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solidFill>
                  <a:srgbClr val="1F4E6B"/>
                </a:solidFill>
              </a:rPr>
              <a:t>Which confidence signal? Can we promise a hit-rate?</a:t>
            </a:r>
          </a:p>
        </p:txBody>
      </p:sp>
      <p:sp>
        <p:nvSpPr>
          <p:cNvPr id="3" name="Content Placeholder 2"/>
          <p:cNvSpPr>
            <a:spLocks noGrp="1"/>
          </p:cNvSpPr>
          <p:nvPr>
            <p:ph idx="1"/>
          </p:nvPr>
        </p:nvSpPr>
        <p:spPr>
          <a:xfrm>
            <a:off x="640080" y="1783080"/>
            <a:ext cx="10927080" cy="4114800"/>
          </a:xfrm>
        </p:spPr>
        <p:txBody>
          <a:bodyPr wrap="square">
            <a:normAutofit/>
          </a:bodyPr>
          <a:lstStyle/>
          <a:p>
            <a:pPr>
              <a:spcAft>
                <a:spcPts val="400"/>
              </a:spcAft>
            </a:pPr>
            <a:r>
              <a:rPr sz="1800">
                <a:solidFill>
                  <a:srgbClr val="1F4E6B"/>
                </a:solidFill>
              </a:rPr>
              <a:t>Comparing the signals fairly (same data, paired): the cheap top-probability is statistically tied with the fancier ones; the distance score is slightly better at ranking errors but worse at spotting unknown attacks.</a:t>
            </a:r>
          </a:p>
          <a:p>
            <a:pPr>
              <a:spcAft>
                <a:spcPts val="400"/>
              </a:spcAft>
            </a:pPr>
            <a:r>
              <a:rPr sz="1800">
                <a:solidFill>
                  <a:srgbClr val="1F4E6B"/>
                </a:solidFill>
              </a:rPr>
              <a:t>So on this kind of tabular traffic data, plain confidence is a strong default: the value is in the abstain framework, not the exact signal. (Classical signals only; energy/ODIN-style scores need a neural net we deliberately avoid.)</a:t>
            </a:r>
          </a:p>
          <a:p>
            <a:pPr>
              <a:spcAft>
                <a:spcPts val="400"/>
              </a:spcAft>
            </a:pPr>
            <a:r>
              <a:rPr sz="1800">
                <a:solidFill>
                  <a:srgbClr val="1F4E6B"/>
                </a:solidFill>
              </a:rPr>
              <a:t>Conformal prediction's promised 90% hit-rate holds on training-like data (0.93) but falls to 0.61 once the traffic shifts, the guarantee breaks exactly when deployment changes.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solidFill>
                  <a:srgbClr val="1F4E6B"/>
                </a:solidFill>
              </a:rPr>
              <a:t>Discussion: a practical recipe</a:t>
            </a:r>
          </a:p>
        </p:txBody>
      </p:sp>
      <p:sp>
        <p:nvSpPr>
          <p:cNvPr id="3" name="Content Placeholder 2"/>
          <p:cNvSpPr>
            <a:spLocks noGrp="1"/>
          </p:cNvSpPr>
          <p:nvPr>
            <p:ph idx="1"/>
          </p:nvPr>
        </p:nvSpPr>
        <p:spPr>
          <a:xfrm>
            <a:off x="640080" y="1783080"/>
            <a:ext cx="10927080" cy="4114800"/>
          </a:xfrm>
        </p:spPr>
        <p:txBody>
          <a:bodyPr wrap="square">
            <a:normAutofit/>
          </a:bodyPr>
          <a:lstStyle/>
          <a:p>
            <a:pPr>
              <a:spcAft>
                <a:spcPts val="400"/>
              </a:spcAft>
            </a:pPr>
            <a:r>
              <a:rPr sz="1800">
                <a:solidFill>
                  <a:srgbClr val="1F4E6B"/>
                </a:solidFill>
              </a:rPr>
              <a:t>Pick a model whose confidence is informative (good at ranking its own errors, a tree-based model, not the linear one).</a:t>
            </a:r>
          </a:p>
          <a:p>
            <a:pPr>
              <a:spcAft>
                <a:spcPts val="400"/>
              </a:spcAft>
            </a:pPr>
            <a:r>
              <a:rPr sz="1800">
                <a:solidFill>
                  <a:srgbClr val="1F4E6B"/>
                </a:solidFill>
              </a:rPr>
              <a:t>Choose how much to answer from the risk–coverage curve; send the refused cases to a human or a backup check.</a:t>
            </a:r>
          </a:p>
          <a:p>
            <a:pPr>
              <a:spcAft>
                <a:spcPts val="400"/>
              </a:spcAft>
            </a:pPr>
            <a:r>
              <a:rPr sz="1800">
                <a:solidFill>
                  <a:srgbClr val="1F4E6B"/>
                </a:solidFill>
              </a:rPr>
              <a:t>Watch the abstain rate as a cheap, label-free warning that the traffic is drifting.</a:t>
            </a:r>
          </a:p>
          <a:p>
            <a:pPr>
              <a:spcAft>
                <a:spcPts val="400"/>
              </a:spcAft>
            </a:pPr>
            <a:r>
              <a:rPr sz="1800">
                <a:solidFill>
                  <a:srgbClr val="1F4E6B"/>
                </a:solidFill>
              </a:rPr>
              <a:t>Add a normal-only novelty check for the look-like-normal attacks abstaining cannot catch.</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solidFill>
                  <a:srgbClr val="1F4E6B"/>
                </a:solidFill>
              </a:rPr>
              <a:t>Conclusions and future work</a:t>
            </a:r>
          </a:p>
        </p:txBody>
      </p:sp>
      <p:sp>
        <p:nvSpPr>
          <p:cNvPr id="3" name="Content Placeholder 2"/>
          <p:cNvSpPr>
            <a:spLocks noGrp="1"/>
          </p:cNvSpPr>
          <p:nvPr>
            <p:ph idx="1"/>
          </p:nvPr>
        </p:nvSpPr>
        <p:spPr>
          <a:xfrm>
            <a:off x="640080" y="1783080"/>
            <a:ext cx="10927080" cy="4114800"/>
          </a:xfrm>
        </p:spPr>
        <p:txBody>
          <a:bodyPr wrap="square">
            <a:normAutofit/>
          </a:bodyPr>
          <a:lstStyle/>
          <a:p>
            <a:pPr>
              <a:spcAft>
                <a:spcPts val="400"/>
              </a:spcAft>
            </a:pPr>
            <a:r>
              <a:rPr sz="1800">
                <a:solidFill>
                  <a:srgbClr val="1F4E6B"/>
                </a:solidFill>
              </a:rPr>
              <a:t>Detectors are over-confident under NSL-KDD's shift and not fixable by post-hoc calibration, yet well-calibrated on two modern datasets: calibration need is task-dependent.</a:t>
            </a:r>
          </a:p>
          <a:p>
            <a:pPr>
              <a:spcAft>
                <a:spcPts val="400"/>
              </a:spcAft>
            </a:pPr>
            <a:r>
              <a:rPr sz="1800">
                <a:solidFill>
                  <a:srgbClr val="1F4E6B"/>
                </a:solidFill>
              </a:rPr>
              <a:t>The second failure recurs on all three datasets but is an operating-point one: a single global threshold misses minority look-like-normal families whose score is in fact discriminable, so the much-cited 'detection collapse' is mostly a thresholding artifact.</a:t>
            </a:r>
          </a:p>
          <a:p>
            <a:pPr>
              <a:spcAft>
                <a:spcPts val="400"/>
              </a:spcAft>
            </a:pPr>
            <a:r>
              <a:rPr sz="1800">
                <a:solidFill>
                  <a:srgbClr val="1F4E6B"/>
                </a:solidFill>
              </a:rPr>
              <a:t>Abstention lowers error where confidence ranks it; and simply tuning the operating point to the analyst budget recovers much of the look-like-normal traffic the argmax default hides; a stacked novelty gate adds no further recall at matched cost.</a:t>
            </a:r>
          </a:p>
          <a:p>
            <a:pPr>
              <a:spcAft>
                <a:spcPts val="400"/>
              </a:spcAft>
            </a:pPr>
            <a:r>
              <a:rPr sz="1800">
                <a:solidFill>
                  <a:srgbClr val="1F4E6B"/>
                </a:solidFill>
              </a:rPr>
              <a:t>Future: a full time-ordered evaluation, the label-corrected CIC-2017, and a shared NetFlow feature format for transfer across networks.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solidFill>
                  <a:srgbClr val="1F4E6B"/>
                </a:solidFill>
              </a:rPr>
              <a:t>Selected references</a:t>
            </a:r>
          </a:p>
        </p:txBody>
      </p:sp>
      <p:sp>
        <p:nvSpPr>
          <p:cNvPr id="3" name="Content Placeholder 2"/>
          <p:cNvSpPr>
            <a:spLocks noGrp="1"/>
          </p:cNvSpPr>
          <p:nvPr>
            <p:ph idx="1"/>
          </p:nvPr>
        </p:nvSpPr>
        <p:spPr>
          <a:xfrm>
            <a:off x="640080" y="1783080"/>
            <a:ext cx="10927080" cy="4114800"/>
          </a:xfrm>
        </p:spPr>
        <p:txBody>
          <a:bodyPr wrap="square">
            <a:normAutofit/>
          </a:bodyPr>
          <a:lstStyle/>
          <a:p>
            <a:pPr>
              <a:spcAft>
                <a:spcPts val="400"/>
              </a:spcAft>
            </a:pPr>
            <a:r>
              <a:rPr sz="1800">
                <a:solidFill>
                  <a:srgbClr val="1F4E6B"/>
                </a:solidFill>
              </a:rPr>
              <a:t>M. Tavallaee et al., “A detailed analysis of the KDD Cup 99 / NSL-KDD data set,” 2009.</a:t>
            </a:r>
          </a:p>
          <a:p>
            <a:pPr>
              <a:spcAft>
                <a:spcPts val="400"/>
              </a:spcAft>
            </a:pPr>
            <a:r>
              <a:rPr sz="1800">
                <a:solidFill>
                  <a:srgbClr val="1F4E6B"/>
                </a:solidFill>
              </a:rPr>
              <a:t>C. Guo et al., “On calibration of modern neural networks,” 2017.</a:t>
            </a:r>
          </a:p>
          <a:p>
            <a:pPr>
              <a:spcAft>
                <a:spcPts val="400"/>
              </a:spcAft>
            </a:pPr>
            <a:r>
              <a:rPr sz="1800">
                <a:solidFill>
                  <a:srgbClr val="1F4E6B"/>
                </a:solidFill>
              </a:rPr>
              <a:t>Y. Geifman and R. El-Yaniv, selective prediction / risk–coverage, 2017; El-Yaniv &amp; Wiener, 2010.</a:t>
            </a:r>
          </a:p>
          <a:p>
            <a:pPr>
              <a:spcAft>
                <a:spcPts val="400"/>
              </a:spcAft>
            </a:pPr>
            <a:r>
              <a:rPr sz="1800">
                <a:solidFill>
                  <a:srgbClr val="1F4E6B"/>
                </a:solidFill>
              </a:rPr>
              <a:t>D. Hendrycks and K. Gimpel, max-softmax baseline for misclassification/OOD, 2017.</a:t>
            </a:r>
          </a:p>
          <a:p>
            <a:pPr>
              <a:spcAft>
                <a:spcPts val="400"/>
              </a:spcAft>
            </a:pPr>
            <a:r>
              <a:rPr sz="1800">
                <a:solidFill>
                  <a:srgbClr val="1F4E6B"/>
                </a:solidFill>
              </a:rPr>
              <a:t>D. Arp et al., “Dos and Don'ts of machine learning in computer security,” 2022.</a:t>
            </a:r>
          </a:p>
          <a:p>
            <a:pPr>
              <a:spcAft>
                <a:spcPts val="400"/>
              </a:spcAft>
            </a:pPr>
            <a:r>
              <a:rPr sz="1800">
                <a:solidFill>
                  <a:srgbClr val="1F4E6B"/>
                </a:solidFill>
              </a:rPr>
              <a:t>A. Angelopoulos and S. Bates, conformal prediction, 2023.</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solidFill>
                  <a:srgbClr val="1F4E6B"/>
                </a:solidFill>
              </a:rPr>
              <a:t>Appendix: uncertainty signals on NSL-KDD</a:t>
            </a:r>
          </a:p>
        </p:txBody>
      </p:sp>
      <p:sp>
        <p:nvSpPr>
          <p:cNvPr id="3" name="Content Placeholder 2"/>
          <p:cNvSpPr>
            <a:spLocks noGrp="1"/>
          </p:cNvSpPr>
          <p:nvPr>
            <p:ph idx="1"/>
          </p:nvPr>
        </p:nvSpPr>
        <p:spPr>
          <a:xfrm>
            <a:off x="640080" y="1783080"/>
            <a:ext cx="10927080" cy="4114800"/>
          </a:xfrm>
        </p:spPr>
        <p:txBody>
          <a:bodyPr wrap="square">
            <a:normAutofit/>
          </a:bodyPr>
          <a:lstStyle/>
          <a:p>
            <a:pPr>
              <a:spcAft>
                <a:spcPts val="400"/>
              </a:spcAft>
            </a:pPr>
            <a:r>
              <a:rPr sz="1800">
                <a:solidFill>
                  <a:srgbClr val="1F4E6B"/>
                </a:solidFill>
              </a:rPr>
              <a:t>AURC (lower is better): max-softmax 0.060, Mahalanobis 0.058, k-NN 0.068, RF disagreement 0.060.</a:t>
            </a:r>
          </a:p>
          <a:p>
            <a:pPr>
              <a:spcAft>
                <a:spcPts val="400"/>
              </a:spcAft>
            </a:pPr>
            <a:r>
              <a:rPr sz="1800">
                <a:solidFill>
                  <a:srgbClr val="1F4E6B"/>
                </a:solidFill>
              </a:rPr>
              <a:t>Mahalanobis is marginally better at error-ranking but significantly worse at unknown-attack separation than max-softmax.</a:t>
            </a:r>
          </a:p>
          <a:p>
            <a:pPr>
              <a:spcAft>
                <a:spcPts val="400"/>
              </a:spcAft>
            </a:pPr>
            <a:r>
              <a:rPr sz="1800">
                <a:solidFill>
                  <a:srgbClr val="1F4E6B"/>
                </a:solidFill>
              </a:rPr>
              <a:t>Split-conformal coverage: 0.93 in-distribution -&gt; 0.61 under the train–test shift (target 0.90).</a:t>
            </a:r>
          </a:p>
          <a:p>
            <a:pPr>
              <a:spcAft>
                <a:spcPts val="400"/>
              </a:spcAft>
            </a:pPr>
            <a:r>
              <a:rPr sz="1800">
                <a:solidFill>
                  <a:srgbClr val="1F4E6B"/>
                </a:solidFill>
              </a:rPr>
              <a:t>All metrics: means over K seeds with 95% confidence intervals.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2377440"/>
            <a:ext cx="0" cy="1371600"/>
          </a:xfrm>
        </p:spPr>
        <p:txBody>
          <a:bodyPr/>
          <a:lstStyle/>
          <a:p>
            <a:r>
              <a:rPr sz="4000" b="1">
                <a:solidFill>
                  <a:srgbClr val="1F4E6B"/>
                </a:solidFill>
              </a:rPr>
              <a:t>Thank you</a:t>
            </a:r>
          </a:p>
        </p:txBody>
      </p:sp>
      <p:sp>
        <p:nvSpPr>
          <p:cNvPr id="3" name="TextBox 2"/>
          <p:cNvSpPr txBox="1"/>
          <p:nvPr/>
        </p:nvSpPr>
        <p:spPr>
          <a:xfrm>
            <a:off x="731520" y="3840480"/>
            <a:ext cx="10698480" cy="1097280"/>
          </a:xfrm>
          <a:prstGeom prst="rect">
            <a:avLst/>
          </a:prstGeom>
          <a:noFill/>
        </p:spPr>
        <p:txBody>
          <a:bodyPr wrap="square">
            <a:normAutofit/>
          </a:bodyPr>
          <a:lstStyle/>
          <a:p>
            <a:pPr algn="ctr">
              <a:spcAft>
                <a:spcPts val="400"/>
              </a:spcAft>
            </a:pPr>
            <a:r>
              <a:rPr sz="1800">
                <a:solidFill>
                  <a:srgbClr val="1F4E6B"/>
                </a:solidFill>
              </a:rPr>
              <a:t>Questions?  ·  LOFO protocol and analysis code released for verification.</a:t>
            </a:r>
          </a:p>
        </p:txBody>
      </p:sp>
    </p:spTree>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eması">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870</TotalTime>
  <Words>437</Words>
  <Application>Microsoft Office PowerPoint</Application>
  <PresentationFormat>Geniş ekran</PresentationFormat>
  <Paragraphs>41</Paragraphs>
  <Slides>11</Slides>
  <Notes>0</Notes>
  <HiddenSlides>0</HiddenSlides>
  <MMClips>0</MMClips>
  <ScaleCrop>false</ScaleCrop>
  <HeadingPairs>
    <vt:vector size="6" baseType="variant">
      <vt:variant>
        <vt:lpstr>Kullanılan Yazı Tipleri</vt:lpstr>
      </vt:variant>
      <vt:variant>
        <vt:i4>6</vt:i4>
      </vt:variant>
      <vt:variant>
        <vt:lpstr>Tema</vt:lpstr>
      </vt:variant>
      <vt:variant>
        <vt:i4>1</vt:i4>
      </vt:variant>
      <vt:variant>
        <vt:lpstr>Slayt Başlıkları</vt:lpstr>
      </vt:variant>
      <vt:variant>
        <vt:i4>11</vt:i4>
      </vt:variant>
    </vt:vector>
  </HeadingPairs>
  <TitlesOfParts>
    <vt:vector size="18" baseType="lpstr">
      <vt:lpstr>-apple-system</vt:lpstr>
      <vt:lpstr>Arial</vt:lpstr>
      <vt:lpstr>Calibri</vt:lpstr>
      <vt:lpstr>Calibri Light</vt:lpstr>
      <vt:lpstr>Times New Roman</vt:lpstr>
      <vt:lpstr>Wingdings</vt:lpstr>
      <vt:lpstr>Custom Design</vt:lpstr>
      <vt:lpstr>Sunum Kılavuzu</vt:lpstr>
      <vt:lpstr>UBMK’25</vt:lpstr>
      <vt:lpstr>Giriş</vt:lpstr>
      <vt:lpstr>Yöntem</vt:lpstr>
      <vt:lpstr>Modeller, Formüller ve Teknikler</vt:lpstr>
      <vt:lpstr>Deneysel Düzenek</vt:lpstr>
      <vt:lpstr>Bulgular ve Tartışma</vt:lpstr>
      <vt:lpstr>Sonuçlar and Gelecek Araştırmalar</vt:lpstr>
      <vt:lpstr>Kaynaklar</vt:lpstr>
      <vt:lpstr>Kaynaklar</vt:lpstr>
      <vt:lpstr>Ekler (Gerekli ise)</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Sunusu</dc:title>
  <dc:subject/>
  <dc:creator>ŞEREF SAĞIROĞLU</dc:creator>
  <cp:keywords/>
  <dc:description/>
  <cp:lastModifiedBy>yeni</cp:lastModifiedBy>
  <cp:revision>74</cp:revision>
  <dcterms:created xsi:type="dcterms:W3CDTF">2018-08-12T18:31:45Z</dcterms:created>
  <dcterms:modified xsi:type="dcterms:W3CDTF">2025-08-10T19:43:05Z</dcterms:modified>
  <cp:category/>
</cp:coreProperties>
</file>